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7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778240" y="0"/>
            <a:ext cx="3410712" cy="6858000"/>
          </a:xfrm>
          <a:prstGeom prst="rect">
            <a:avLst/>
          </a:prstGeom>
          <a:solidFill>
            <a:srgbClr val="1B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372600" y="1097280"/>
            <a:ext cx="45720" cy="4297680"/>
          </a:xfrm>
          <a:prstGeom prst="rect">
            <a:avLst/>
          </a:prstGeom>
          <a:solidFill>
            <a:srgbClr val="29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756648" y="1618488"/>
            <a:ext cx="45720" cy="3886200"/>
          </a:xfrm>
          <a:prstGeom prst="rect">
            <a:avLst/>
          </a:prstGeom>
          <a:solidFill>
            <a:srgbClr val="297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140696" y="2139696"/>
            <a:ext cx="45720" cy="3474720"/>
          </a:xfrm>
          <a:prstGeom prst="rect">
            <a:avLst/>
          </a:prstGeom>
          <a:solidFill>
            <a:srgbClr val="297F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524744" y="2660904"/>
            <a:ext cx="45720" cy="3063240"/>
          </a:xfrm>
          <a:prstGeom prst="rect">
            <a:avLst/>
          </a:prstGeom>
          <a:solidFill>
            <a:srgbClr val="29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908792" y="3182111"/>
            <a:ext cx="45720" cy="2651760"/>
          </a:xfrm>
          <a:prstGeom prst="rect">
            <a:avLst/>
          </a:prstGeom>
          <a:solidFill>
            <a:srgbClr val="2993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658368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7BD5CD"/>
                </a:solidFill>
                <a:latin typeface="Aptos"/>
              </a:rPr>
              <a:t>INTELIGÊNCIA COMPUTACIONAL  /  EXPERIMENTO 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1" y="1298448"/>
            <a:ext cx="7955279" cy="1719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700" b="1" dirty="0" err="1">
                <a:solidFill>
                  <a:srgbClr val="FFFFFF"/>
                </a:solidFill>
                <a:latin typeface="Aptos"/>
              </a:rPr>
              <a:t>Previsão</a:t>
            </a:r>
            <a:r>
              <a:rPr sz="3700" b="1" dirty="0">
                <a:solidFill>
                  <a:srgbClr val="FFFFFF"/>
                </a:solidFill>
                <a:latin typeface="Aptos"/>
              </a:rPr>
              <a:t> de </a:t>
            </a:r>
            <a:r>
              <a:rPr sz="3700" b="1" dirty="0" err="1">
                <a:solidFill>
                  <a:srgbClr val="FFFFFF"/>
                </a:solidFill>
                <a:latin typeface="Aptos"/>
              </a:rPr>
              <a:t>preços</a:t>
            </a:r>
            <a:r>
              <a:rPr sz="3700" b="1" dirty="0">
                <a:solidFill>
                  <a:srgbClr val="FFFFFF"/>
                </a:solidFill>
                <a:latin typeface="Aptos"/>
              </a:rPr>
              <a:t>
de </a:t>
            </a:r>
            <a:r>
              <a:rPr sz="3700" b="1" dirty="0" err="1">
                <a:solidFill>
                  <a:srgbClr val="FFFFFF"/>
                </a:solidFill>
                <a:latin typeface="Aptos"/>
              </a:rPr>
              <a:t>veículos</a:t>
            </a:r>
            <a:r>
              <a:rPr sz="3700" b="1" dirty="0">
                <a:solidFill>
                  <a:srgbClr val="FFFFFF"/>
                </a:solidFill>
                <a:latin typeface="Aptos"/>
              </a:rPr>
              <a:t> com 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3346704"/>
            <a:ext cx="950976" cy="6400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3937045"/>
            <a:ext cx="7498079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dirty="0">
                <a:solidFill>
                  <a:srgbClr val="CDDCE5"/>
                </a:solidFill>
                <a:latin typeface="Aptos"/>
              </a:rPr>
              <a:t>Random Search × TPE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1" y="5687568"/>
            <a:ext cx="82296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dirty="0">
                <a:solidFill>
                  <a:srgbClr val="B9CDD8"/>
                </a:solidFill>
                <a:latin typeface="Aptos"/>
              </a:rPr>
              <a:t>Andrey de Matos Gonçalves  ·  Felipe Gabriel Souza </a:t>
            </a:r>
            <a:r>
              <a:rPr sz="1600" b="0" dirty="0" err="1">
                <a:solidFill>
                  <a:srgbClr val="B9CDD8"/>
                </a:solidFill>
                <a:latin typeface="Aptos"/>
              </a:rPr>
              <a:t>Libório</a:t>
            </a:r>
            <a:r>
              <a:rPr sz="1600" b="0" dirty="0">
                <a:solidFill>
                  <a:srgbClr val="B9CDD8"/>
                </a:solidFill>
                <a:latin typeface="Aptos"/>
              </a:rPr>
              <a:t>
Felipe Vieira Brazão e Silva  ·  Gabriel Coelho Goes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DATASET E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Quais dados entram e o que prevemos?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Vehicle Sales and Market Trends · leilões de veículos nos EUA · Kaggle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55648"/>
            <a:ext cx="3429000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1920240"/>
            <a:ext cx="2971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D6D7D"/>
                </a:solidFill>
                <a:latin typeface="Aptos"/>
              </a:rPr>
              <a:t>REGISTROS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157984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008B8B"/>
                </a:solidFill>
                <a:latin typeface="Aptos"/>
              </a:rPr>
              <a:t>558.837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755648"/>
            <a:ext cx="3429000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08576" y="1920240"/>
            <a:ext cx="2971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D6D7D"/>
                </a:solidFill>
                <a:latin typeface="Aptos"/>
              </a:rPr>
              <a:t>COLUNAS ORIGINAIS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157984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008B8B"/>
                </a:solidFill>
                <a:latin typeface="Aptos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2743200"/>
            <a:ext cx="297180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5D6D7D"/>
                </a:solidFill>
                <a:latin typeface="Aptos"/>
              </a:rPr>
              <a:t>15 atributos + 1 alvo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3" y="1755648"/>
            <a:ext cx="3438144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0183" y="1920240"/>
            <a:ext cx="298094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D6D7D"/>
                </a:solidFill>
                <a:latin typeface="Aptos"/>
              </a:rPr>
              <a:t>UNIDADE DO ALVO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3" y="2157984"/>
            <a:ext cx="29809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008B8B"/>
                </a:solidFill>
                <a:latin typeface="Aptos"/>
              </a:rPr>
              <a:t>US$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255264"/>
            <a:ext cx="3429000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59536" y="3493008"/>
            <a:ext cx="64008" cy="32004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42415" y="348386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08B8B"/>
                </a:solidFill>
                <a:latin typeface="Aptos"/>
              </a:rPr>
              <a:t>VEÍCULO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959352"/>
            <a:ext cx="2916936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5273B"/>
                </a:solidFill>
                <a:latin typeface="Aptos"/>
              </a:rPr>
              <a:t>year, make, model
+ trim, body e outras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9976" y="3255264"/>
            <a:ext cx="3429000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81144" y="3493008"/>
            <a:ext cx="64008" cy="32004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64024" y="348386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08B8B"/>
                </a:solidFill>
                <a:latin typeface="Aptos"/>
              </a:rPr>
              <a:t>USO E CONSERVAÇÃO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3959352"/>
            <a:ext cx="2916936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5273B"/>
                </a:solidFill>
                <a:latin typeface="Aptos"/>
              </a:rPr>
              <a:t>condition, odometer
+ idade derivada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1583" y="3255264"/>
            <a:ext cx="3438144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302752" y="3493008"/>
            <a:ext cx="64008" cy="32004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85632" y="3483864"/>
            <a:ext cx="28437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08B8B"/>
                </a:solidFill>
                <a:latin typeface="Aptos"/>
              </a:rPr>
              <a:t>CONTEXTO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5" y="3959352"/>
            <a:ext cx="292607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5273B"/>
                </a:solidFill>
                <a:latin typeface="Aptos"/>
              </a:rPr>
              <a:t>state, saledate
mmr só no diagnóstico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983480"/>
            <a:ext cx="10881360" cy="978408"/>
          </a:xfrm>
          <a:prstGeom prst="roundRect">
            <a:avLst>
              <a:gd name="adj" fmla="val 12000"/>
            </a:avLst>
          </a:prstGeom>
          <a:solidFill>
            <a:srgbClr val="152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32688" y="5129784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7BD5CD"/>
                </a:solidFill>
                <a:latin typeface="Aptos"/>
              </a:rPr>
              <a:t>TARGET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85816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ptos"/>
              </a:rPr>
              <a:t>sellingprice  ·  preço final de venda, em dólares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" y="6053328"/>
            <a:ext cx="1078992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5D6D7D"/>
                </a:solidFill>
                <a:latin typeface="Aptos"/>
              </a:rPr>
              <a:t>A MLP da v2 usa 10 features finais e não recebe a estimativa MMR.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EXPLORAÇÃO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Diagnóstico e distribuição do preço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O alvo é assimétrico e apresenta valores extremos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73936"/>
            <a:ext cx="10881360" cy="2468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908" y="1883664"/>
            <a:ext cx="10324279" cy="224942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8368" y="4489704"/>
            <a:ext cx="3429000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6968" y="4654296"/>
            <a:ext cx="2971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D6D7D"/>
                </a:solidFill>
                <a:latin typeface="Aptos"/>
              </a:rPr>
              <a:t>MEDIANA DO ALVO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89204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008B8B"/>
                </a:solidFill>
                <a:latin typeface="Aptos"/>
              </a:rPr>
              <a:t>US$ 12.100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4489704"/>
            <a:ext cx="3429000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08576" y="4654296"/>
            <a:ext cx="2971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D6D7D"/>
                </a:solidFill>
                <a:latin typeface="Aptos"/>
              </a:rPr>
              <a:t>MAIOR VALOR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489204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426CA3"/>
                </a:solidFill>
                <a:latin typeface="Aptos"/>
              </a:rPr>
              <a:t>US$ 230 mil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3" y="4489704"/>
            <a:ext cx="3438144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30183" y="4654296"/>
            <a:ext cx="298094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D6D7D"/>
                </a:solidFill>
                <a:latin typeface="Aptos"/>
              </a:rPr>
              <a:t>PREÇOS AUSENTES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3" y="4892040"/>
            <a:ext cx="29809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B87020"/>
                </a:solidFill>
                <a:latin typeface="Aptos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934456"/>
            <a:ext cx="107899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5D6D7D"/>
                </a:solidFill>
                <a:latin typeface="Aptos"/>
              </a:rPr>
              <a:t>O MMR aparece na exploração para diagnóstico, mas é excluído do modelo.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EXPLORAÇÃO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Como os números se relacionam ao preço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Correlação de Spearman com sellingprice; associação não implica causa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64792"/>
            <a:ext cx="10881360" cy="33558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5D6D7D"/>
                </a:solidFill>
                <a:latin typeface="Aptos"/>
              </a:rPr>
              <a:t>ATRIBUTO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02368" y="2011680"/>
            <a:ext cx="134416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5D6D7D"/>
                </a:solidFill>
                <a:latin typeface="Aptos"/>
              </a:rPr>
              <a:t>CORRELAÇÃO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83096" y="2340864"/>
            <a:ext cx="13716" cy="2468880"/>
          </a:xfrm>
          <a:prstGeom prst="rect">
            <a:avLst/>
          </a:prstGeom>
          <a:solidFill>
            <a:srgbClr val="5D6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414016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5273B"/>
                </a:solidFill>
                <a:latin typeface="Aptos"/>
              </a:rPr>
              <a:t>mmr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83096" y="2464308"/>
            <a:ext cx="2578169" cy="173736"/>
          </a:xfrm>
          <a:prstGeom prst="rect">
            <a:avLst/>
          </a:prstGeom>
          <a:solidFill>
            <a:srgbClr val="426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39528" y="2414016"/>
            <a:ext cx="1197864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500" b="1">
                <a:solidFill>
                  <a:srgbClr val="426CA3"/>
                </a:solidFill>
                <a:latin typeface="Aptos"/>
              </a:rPr>
              <a:t>+0,979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880360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5273B"/>
                </a:solidFill>
                <a:latin typeface="Aptos"/>
              </a:rPr>
              <a:t>year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83096" y="2930652"/>
            <a:ext cx="1788127" cy="17373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39528" y="2880360"/>
            <a:ext cx="1197864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500" b="1">
                <a:solidFill>
                  <a:srgbClr val="008B8B"/>
                </a:solidFill>
                <a:latin typeface="Aptos"/>
              </a:rPr>
              <a:t>+0,679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346704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5273B"/>
                </a:solidFill>
                <a:latin typeface="Aptos"/>
              </a:rPr>
              <a:t>condition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83096" y="3396996"/>
            <a:ext cx="1264066" cy="17373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939528" y="3346704"/>
            <a:ext cx="1197864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500" b="1">
                <a:solidFill>
                  <a:srgbClr val="008B8B"/>
                </a:solidFill>
                <a:latin typeface="Aptos"/>
              </a:rPr>
              <a:t>+0,480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813048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5273B"/>
                </a:solidFill>
                <a:latin typeface="Aptos"/>
              </a:rPr>
              <a:t>idade_veiculo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2868" y="3863339"/>
            <a:ext cx="1780227" cy="173736"/>
          </a:xfrm>
          <a:prstGeom prst="rect">
            <a:avLst/>
          </a:prstGeom>
          <a:solidFill>
            <a:srgbClr val="B8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939528" y="3813048"/>
            <a:ext cx="1197864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500" b="1">
                <a:solidFill>
                  <a:srgbClr val="B87020"/>
                </a:solidFill>
                <a:latin typeface="Aptos"/>
              </a:rPr>
              <a:t>-0,676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279392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5273B"/>
                </a:solidFill>
                <a:latin typeface="Aptos"/>
              </a:rPr>
              <a:t>odometer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26498" y="4329683"/>
            <a:ext cx="1856597" cy="173736"/>
          </a:xfrm>
          <a:prstGeom prst="rect">
            <a:avLst/>
          </a:prstGeom>
          <a:solidFill>
            <a:srgbClr val="B8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939528" y="4279392"/>
            <a:ext cx="1197864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500" b="1">
                <a:solidFill>
                  <a:srgbClr val="B87020"/>
                </a:solidFill>
                <a:latin typeface="Aptos"/>
              </a:rPr>
              <a:t>-0,705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422392"/>
            <a:ext cx="10881360" cy="704088"/>
          </a:xfrm>
          <a:prstGeom prst="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58368" y="5422392"/>
            <a:ext cx="73152" cy="7040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553212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  <a:latin typeface="Aptos"/>
              </a:rPr>
              <a:t>MMR: 0,979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03904" y="5522976"/>
            <a:ext cx="74066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5273B"/>
                </a:solidFill>
                <a:latin typeface="Aptos"/>
              </a:rPr>
              <a:t>É uma estimativa de preço pronta; aparece na análise, mas fica fora da MLP.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EXPLORAÇÃO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Preço mediano por categoria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Exemplos de categorias frequentes; valores em US$ no conjunto original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73936"/>
            <a:ext cx="3429000" cy="3410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956816"/>
            <a:ext cx="302666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15273B"/>
                </a:solidFill>
                <a:latin typeface="Aptos"/>
              </a:rPr>
              <a:t>Carroceria ·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523744"/>
            <a:ext cx="111556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15273B"/>
                </a:solidFill>
                <a:latin typeface="Aptos"/>
              </a:rPr>
              <a:t>SUV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2536" y="2551175"/>
            <a:ext cx="969264" cy="182880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02536" y="2551175"/>
            <a:ext cx="914742" cy="1828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35808" y="2523744"/>
            <a:ext cx="832104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>
                <a:solidFill>
                  <a:srgbClr val="008B8B"/>
                </a:solidFill>
                <a:latin typeface="Aptos"/>
              </a:rPr>
              <a:t>15.100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3044951"/>
            <a:ext cx="111556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15273B"/>
                </a:solidFill>
                <a:latin typeface="Aptos"/>
              </a:rPr>
              <a:t>sedan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02536" y="3072383"/>
            <a:ext cx="969264" cy="182880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002536" y="3072383"/>
            <a:ext cx="666369" cy="1828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35808" y="3044951"/>
            <a:ext cx="832104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>
                <a:solidFill>
                  <a:srgbClr val="008B8B"/>
                </a:solidFill>
                <a:latin typeface="Aptos"/>
              </a:rPr>
              <a:t>11.000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3566159"/>
            <a:ext cx="111556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15273B"/>
                </a:solidFill>
                <a:latin typeface="Aptos"/>
              </a:rPr>
              <a:t>hatchback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02536" y="3593591"/>
            <a:ext cx="969264" cy="182880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002536" y="3593591"/>
            <a:ext cx="599732" cy="1828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035808" y="3566159"/>
            <a:ext cx="832104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>
                <a:solidFill>
                  <a:srgbClr val="008B8B"/>
                </a:solidFill>
                <a:latin typeface="Aptos"/>
              </a:rPr>
              <a:t>9.900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9976" y="1773936"/>
            <a:ext cx="3429000" cy="3410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81144" y="1956816"/>
            <a:ext cx="302666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15273B"/>
                </a:solidFill>
                <a:latin typeface="Aptos"/>
              </a:rPr>
              <a:t>Cor externa · color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1144" y="2523744"/>
            <a:ext cx="111556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15273B"/>
                </a:solidFill>
                <a:latin typeface="Aptos"/>
              </a:rPr>
              <a:t>black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24144" y="2551175"/>
            <a:ext cx="969264" cy="182880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724144" y="2551175"/>
            <a:ext cx="817816" cy="182880"/>
          </a:xfrm>
          <a:prstGeom prst="rect">
            <a:avLst/>
          </a:prstGeom>
          <a:solidFill>
            <a:srgbClr val="426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757415" y="2523744"/>
            <a:ext cx="832104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>
                <a:solidFill>
                  <a:srgbClr val="426CA3"/>
                </a:solidFill>
                <a:latin typeface="Aptos"/>
              </a:rPr>
              <a:t>13.500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81144" y="3044951"/>
            <a:ext cx="111556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15273B"/>
                </a:solidFill>
                <a:latin typeface="Aptos"/>
              </a:rPr>
              <a:t>white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24144" y="3072383"/>
            <a:ext cx="969264" cy="182880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724144" y="3072383"/>
            <a:ext cx="799642" cy="182880"/>
          </a:xfrm>
          <a:prstGeom prst="rect">
            <a:avLst/>
          </a:prstGeom>
          <a:solidFill>
            <a:srgbClr val="426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757415" y="3044951"/>
            <a:ext cx="832104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>
                <a:solidFill>
                  <a:srgbClr val="426CA3"/>
                </a:solidFill>
                <a:latin typeface="Aptos"/>
              </a:rPr>
              <a:t>13.200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1144" y="3566159"/>
            <a:ext cx="111556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15273B"/>
                </a:solidFill>
                <a:latin typeface="Aptos"/>
              </a:rPr>
              <a:t>silver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24144" y="3593591"/>
            <a:ext cx="969264" cy="182880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724144" y="3593591"/>
            <a:ext cx="642137" cy="182880"/>
          </a:xfrm>
          <a:prstGeom prst="rect">
            <a:avLst/>
          </a:prstGeom>
          <a:solidFill>
            <a:srgbClr val="426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57415" y="3566159"/>
            <a:ext cx="832104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>
                <a:solidFill>
                  <a:srgbClr val="426CA3"/>
                </a:solidFill>
                <a:latin typeface="Aptos"/>
              </a:rPr>
              <a:t>10.600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01583" y="1773936"/>
            <a:ext cx="3438144" cy="3410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02752" y="1956816"/>
            <a:ext cx="3035808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15273B"/>
                </a:solidFill>
                <a:latin typeface="Aptos"/>
              </a:rPr>
              <a:t>Interior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2523744"/>
            <a:ext cx="111556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15273B"/>
                </a:solidFill>
                <a:latin typeface="Aptos"/>
              </a:rPr>
              <a:t>black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45752" y="2551175"/>
            <a:ext cx="978407" cy="182880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9445752" y="2551175"/>
            <a:ext cx="843876" cy="182880"/>
          </a:xfrm>
          <a:prstGeom prst="rect">
            <a:avLst/>
          </a:prstGeom>
          <a:solidFill>
            <a:srgbClr val="B8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488167" y="2523744"/>
            <a:ext cx="832104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>
                <a:solidFill>
                  <a:srgbClr val="B87020"/>
                </a:solidFill>
                <a:latin typeface="Aptos"/>
              </a:rPr>
              <a:t>13.800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3044951"/>
            <a:ext cx="111556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15273B"/>
                </a:solidFill>
                <a:latin typeface="Aptos"/>
              </a:rPr>
              <a:t>beige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45752" y="3072383"/>
            <a:ext cx="978407" cy="182880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9445752" y="3072383"/>
            <a:ext cx="733805" cy="182880"/>
          </a:xfrm>
          <a:prstGeom prst="rect">
            <a:avLst/>
          </a:prstGeom>
          <a:solidFill>
            <a:srgbClr val="B8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488167" y="3044951"/>
            <a:ext cx="832104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>
                <a:solidFill>
                  <a:srgbClr val="B87020"/>
                </a:solidFill>
                <a:latin typeface="Aptos"/>
              </a:rPr>
              <a:t>12.000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2752" y="3566159"/>
            <a:ext cx="111556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15273B"/>
                </a:solidFill>
                <a:latin typeface="Aptos"/>
              </a:rPr>
              <a:t>gray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445752" y="3593591"/>
            <a:ext cx="978407" cy="182880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9445752" y="3593591"/>
            <a:ext cx="611504" cy="182880"/>
          </a:xfrm>
          <a:prstGeom prst="rect">
            <a:avLst/>
          </a:prstGeom>
          <a:solidFill>
            <a:srgbClr val="B8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488167" y="3566159"/>
            <a:ext cx="832104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>
                <a:solidFill>
                  <a:srgbClr val="B87020"/>
                </a:solidFill>
                <a:latin typeface="Aptos"/>
              </a:rPr>
              <a:t>10.000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" y="5422392"/>
            <a:ext cx="10881360" cy="704088"/>
          </a:xfrm>
          <a:prstGeom prst="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58368" y="5422392"/>
            <a:ext cx="73152" cy="7040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14400" y="553212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  <a:latin typeface="Aptos"/>
              </a:rPr>
              <a:t>Leitura cautelosa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03904" y="5522976"/>
            <a:ext cx="74066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5273B"/>
                </a:solidFill>
                <a:latin typeface="Aptos"/>
              </a:rPr>
              <a:t>Modelo, ano, uso e condição também variam entre grupos; não há efeito causal isolado.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Da tabela original às 10 features da MLP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Limpeza determinística antes da divisão; estatísticas ajustadas só no treino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73936"/>
            <a:ext cx="5230368" cy="3310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59536" y="2011680"/>
            <a:ext cx="64008" cy="32004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2415" y="2002536"/>
            <a:ext cx="463600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08B8B"/>
                </a:solidFill>
                <a:latin typeface="Aptos"/>
              </a:rPr>
              <a:t>REMOÇÃO E ENGENHARIA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78024"/>
            <a:ext cx="4718304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5273B"/>
                </a:solidFill>
                <a:latin typeface="Aptos"/>
              </a:rPr>
              <a:t>Fora do modelo: vin, seller, mmr e transmission.
year + saledate → idade_veiculo.
condition é corrigida; textos e categorias inválidas são padronizados.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73936"/>
            <a:ext cx="5413248" cy="3310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27648" y="2011680"/>
            <a:ext cx="64008" cy="320040"/>
          </a:xfrm>
          <a:prstGeom prst="rect">
            <a:avLst/>
          </a:prstGeom>
          <a:solidFill>
            <a:srgbClr val="426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0528" y="2002536"/>
            <a:ext cx="481888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26CA3"/>
                </a:solidFill>
                <a:latin typeface="Aptos"/>
              </a:rPr>
              <a:t>ENTRADAS MANTIDAS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478024"/>
            <a:ext cx="4901183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5273B"/>
                </a:solidFill>
                <a:latin typeface="Aptos"/>
              </a:rPr>
              <a:t>Numéricas: condition, odometer, idade_veiculo.
Categóricas: make, model, trim, body, state, color, interior.
Ausentes → imputação; numéricas → escala; categóricas → one-hot.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422392"/>
            <a:ext cx="10881360" cy="704088"/>
          </a:xfrm>
          <a:prstGeom prst="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8368" y="5422392"/>
            <a:ext cx="73152" cy="7040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553212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  <a:latin typeface="Aptos"/>
              </a:rPr>
              <a:t>Sem MMR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3904" y="5522976"/>
            <a:ext cx="74066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5273B"/>
                </a:solidFill>
                <a:latin typeface="Aptos"/>
              </a:rPr>
              <a:t>A previsão depende de atributos do veículo, não de um preço pronto.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VALIDAÇÃO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Treino, busca e teste reservado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A divisão por faixas de preço preserva a distribuição do alvo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92224"/>
            <a:ext cx="3429000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1956816"/>
            <a:ext cx="2971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D6D7D"/>
                </a:solidFill>
                <a:latin typeface="Aptos"/>
              </a:rPr>
              <a:t>TREINO · 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19456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008B8B"/>
                </a:solidFill>
                <a:latin typeface="Aptos"/>
              </a:rPr>
              <a:t>447.060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792224"/>
            <a:ext cx="3429000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08576" y="1956816"/>
            <a:ext cx="2971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D6D7D"/>
                </a:solidFill>
                <a:latin typeface="Aptos"/>
              </a:rPr>
              <a:t>AMOSTRA PARA BUSCAS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19456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426CA3"/>
                </a:solidFill>
                <a:latin typeface="Aptos"/>
              </a:rPr>
              <a:t>100.000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1792224"/>
            <a:ext cx="3438144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0183" y="1956816"/>
            <a:ext cx="298094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D6D7D"/>
                </a:solidFill>
                <a:latin typeface="Aptos"/>
              </a:rPr>
              <a:t>TESTE · 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3" y="2194560"/>
            <a:ext cx="29809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B87020"/>
                </a:solidFill>
                <a:latin typeface="Aptos"/>
              </a:rPr>
              <a:t>111.765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328416"/>
            <a:ext cx="5230368" cy="1801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59536" y="3566160"/>
            <a:ext cx="64008" cy="32004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2415" y="3557016"/>
            <a:ext cx="463600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08B8B"/>
                </a:solidFill>
                <a:latin typeface="Aptos"/>
              </a:rPr>
              <a:t>BUSCA DE HIPERPARÂMETROS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32504"/>
            <a:ext cx="471830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15273B"/>
                </a:solidFill>
                <a:latin typeface="Aptos"/>
              </a:rPr>
              <a:t>A amostra vem apenas do treino e é avaliada em 3 folds.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28416"/>
            <a:ext cx="5413248" cy="1801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27648" y="3566160"/>
            <a:ext cx="64008" cy="320040"/>
          </a:xfrm>
          <a:prstGeom prst="rect">
            <a:avLst/>
          </a:prstGeom>
          <a:solidFill>
            <a:srgbClr val="B8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10528" y="3557016"/>
            <a:ext cx="481888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B87020"/>
                </a:solidFill>
                <a:latin typeface="Aptos"/>
              </a:rPr>
              <a:t>TESTE FINAL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4032504"/>
            <a:ext cx="4901183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15273B"/>
                </a:solidFill>
                <a:latin typeface="Aptos"/>
              </a:rPr>
              <a:t>Permanece intocado até a configuração ser escolhida.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5422392"/>
            <a:ext cx="10881360" cy="704088"/>
          </a:xfrm>
          <a:prstGeom prst="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58368" y="5422392"/>
            <a:ext cx="73152" cy="7040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553212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  <a:latin typeface="Aptos"/>
              </a:rPr>
              <a:t>Sem vazamento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03904" y="5522976"/>
            <a:ext cx="74066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5273B"/>
                </a:solidFill>
                <a:latin typeface="Aptos"/>
              </a:rPr>
              <a:t>Imputação, escala e one-hot são ajustados em cada partição de treino.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MODELO DE REFERÊNCIA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O ponto inicial antes das buscas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A mesma amostra de 100 mil linhas e os mesmos 3 folds são usados depois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73936"/>
            <a:ext cx="5230368" cy="3310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59536" y="2011680"/>
            <a:ext cx="64008" cy="32004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2415" y="2002536"/>
            <a:ext cx="463600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dirty="0">
                <a:solidFill>
                  <a:srgbClr val="008B8B"/>
                </a:solidFill>
                <a:latin typeface="Aptos"/>
              </a:rPr>
              <a:t>MLP DE REFERÊNCIA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690336"/>
            <a:ext cx="4718304" cy="1477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dirty="0">
                <a:latin typeface="Aptos"/>
              </a:rPr>
              <a:t>64 → 32 </a:t>
            </a:r>
            <a:r>
              <a:rPr sz="2400" b="0" dirty="0" err="1">
                <a:latin typeface="Aptos"/>
              </a:rPr>
              <a:t>neurônios</a:t>
            </a:r>
            <a:r>
              <a:rPr sz="2400" b="0" dirty="0">
                <a:latin typeface="Aptos"/>
              </a:rPr>
              <a:t> · </a:t>
            </a:r>
            <a:r>
              <a:rPr sz="2400" b="0" dirty="0" err="1">
                <a:latin typeface="Aptos"/>
              </a:rPr>
              <a:t>ReLU</a:t>
            </a:r>
            <a:r>
              <a:rPr sz="2400" b="0" dirty="0">
                <a:latin typeface="Aptos"/>
              </a:rPr>
              <a:t>
Adam · learning rate 0,001
Lote 128 · </a:t>
            </a:r>
            <a:r>
              <a:rPr sz="2400" b="0" dirty="0" err="1">
                <a:latin typeface="Aptos"/>
              </a:rPr>
              <a:t>até</a:t>
            </a:r>
            <a:r>
              <a:rPr sz="2400" b="0" dirty="0">
                <a:latin typeface="Aptos"/>
              </a:rPr>
              <a:t> 80 </a:t>
            </a:r>
            <a:r>
              <a:rPr sz="2400" b="0" dirty="0" err="1">
                <a:latin typeface="Aptos"/>
              </a:rPr>
              <a:t>épocas</a:t>
            </a:r>
            <a:r>
              <a:rPr sz="2400" b="0" dirty="0">
                <a:latin typeface="Aptos"/>
              </a:rPr>
              <a:t>
Early Stopping: </a:t>
            </a:r>
            <a:r>
              <a:rPr sz="2400" b="0" dirty="0" err="1">
                <a:latin typeface="Aptos"/>
              </a:rPr>
              <a:t>paciência</a:t>
            </a:r>
            <a:r>
              <a:rPr sz="2400" b="0" dirty="0">
                <a:latin typeface="Aptos"/>
              </a:rPr>
              <a:t> 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73936"/>
            <a:ext cx="5413248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938528"/>
            <a:ext cx="495604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D6D7D"/>
                </a:solidFill>
                <a:latin typeface="Aptos"/>
              </a:rPr>
              <a:t>MAE MÉDIO · 3 FOLDS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176272"/>
            <a:ext cx="4956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008B8B"/>
                </a:solidFill>
                <a:latin typeface="Aptos"/>
              </a:rPr>
              <a:t>US$ 2.723,18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255264"/>
            <a:ext cx="5413248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3419856"/>
            <a:ext cx="495604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D6D7D"/>
                </a:solidFill>
                <a:latin typeface="Aptos"/>
              </a:rPr>
              <a:t>R² MÉDIO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57600"/>
            <a:ext cx="4956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426CA3"/>
                </a:solidFill>
                <a:latin typeface="Aptos"/>
              </a:rPr>
              <a:t>0,7710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422392"/>
            <a:ext cx="10881360" cy="704088"/>
          </a:xfrm>
          <a:prstGeom prst="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8368" y="5422392"/>
            <a:ext cx="73152" cy="7040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553212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  <a:latin typeface="Aptos"/>
              </a:rPr>
              <a:t>Referência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3904" y="5522976"/>
            <a:ext cx="74066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5273B"/>
                </a:solidFill>
                <a:latin typeface="Aptos"/>
              </a:rPr>
              <a:t>As buscas serão comparadas a este MAE médio, não ao melhor fold.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OTIMIZAÇÃO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Duas buscas, o mesmo orçamento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25 configurações × 3 folds por estratégia = 75 treinos em cada busca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73936"/>
            <a:ext cx="5230368" cy="33284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59536" y="2011680"/>
            <a:ext cx="64008" cy="32004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2415" y="2002536"/>
            <a:ext cx="463600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08B8B"/>
                </a:solidFill>
                <a:latin typeface="Aptos"/>
              </a:rPr>
              <a:t>RANDOM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78024"/>
            <a:ext cx="4718304" cy="1846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dirty="0" err="1">
                <a:solidFill>
                  <a:srgbClr val="15273B"/>
                </a:solidFill>
                <a:latin typeface="Aptos"/>
              </a:rPr>
              <a:t>Sorteia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combinações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independentes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no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espaço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definido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.
Explora 1–3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camadas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, 32–256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neurônios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,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ReLU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/tanh, Adam/RMSprop,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lote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, learning rate e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paciência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73936"/>
            <a:ext cx="5413248" cy="33284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27648" y="2011680"/>
            <a:ext cx="64008" cy="320040"/>
          </a:xfrm>
          <a:prstGeom prst="rect">
            <a:avLst/>
          </a:prstGeom>
          <a:solidFill>
            <a:srgbClr val="426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0528" y="2002536"/>
            <a:ext cx="481888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26CA3"/>
                </a:solidFill>
                <a:latin typeface="Aptos"/>
              </a:rPr>
              <a:t>TPE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478024"/>
            <a:ext cx="4901183" cy="1846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rgbClr val="15273B"/>
                </a:solidFill>
                <a:latin typeface="Aptos"/>
              </a:rPr>
              <a:t>Usa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os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resultados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das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próprias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tentativas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anteriores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para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sugerir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as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próximas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.
Recebe o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mesmo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espaço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de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busca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, a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mesma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amostra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e o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mesmo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critério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: MAE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médio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422392"/>
            <a:ext cx="10881360" cy="704088"/>
          </a:xfrm>
          <a:prstGeom prst="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8368" y="5422392"/>
            <a:ext cx="73152" cy="7040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553212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  <a:latin typeface="Aptos"/>
              </a:rPr>
              <a:t>Comparação justa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3904" y="5522976"/>
            <a:ext cx="74066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5273B"/>
                </a:solidFill>
                <a:latin typeface="Aptos"/>
              </a:rPr>
              <a:t>Mesmo conjunto, folds, métrica e número de tentativas.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Random Search encontrou o melhor ponto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MAE médio de validação cruzada; menor é melhor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773936"/>
            <a:ext cx="222199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15273B"/>
                </a:solidFill>
                <a:latin typeface="Aptos"/>
              </a:rPr>
              <a:t>Referência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08376" y="1819656"/>
            <a:ext cx="7004304" cy="256032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008376" y="1819656"/>
            <a:ext cx="6357993" cy="256032"/>
          </a:xfrm>
          <a:prstGeom prst="rect">
            <a:avLst/>
          </a:prstGeom>
          <a:solidFill>
            <a:srgbClr val="5D6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149840" y="1773936"/>
            <a:ext cx="1289304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300" b="1">
                <a:solidFill>
                  <a:srgbClr val="5D6D7D"/>
                </a:solidFill>
                <a:latin typeface="Aptos"/>
              </a:rPr>
              <a:t>US$ 2.723,18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606040"/>
            <a:ext cx="222199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15273B"/>
                </a:solidFill>
                <a:latin typeface="Aptos"/>
              </a:rPr>
              <a:t>Random 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8376" y="2651760"/>
            <a:ext cx="7004304" cy="256032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008376" y="2651760"/>
            <a:ext cx="5564639" cy="25603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149840" y="2606040"/>
            <a:ext cx="1289304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300" b="1">
                <a:solidFill>
                  <a:srgbClr val="008B8B"/>
                </a:solidFill>
                <a:latin typeface="Aptos"/>
              </a:rPr>
              <a:t>US$ 2.383,38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438144"/>
            <a:ext cx="222199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15273B"/>
                </a:solidFill>
                <a:latin typeface="Aptos"/>
              </a:rPr>
              <a:t>TPE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08376" y="3483863"/>
            <a:ext cx="7004304" cy="256032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008376" y="3483863"/>
            <a:ext cx="5668840" cy="256032"/>
          </a:xfrm>
          <a:prstGeom prst="rect">
            <a:avLst/>
          </a:prstGeom>
          <a:solidFill>
            <a:srgbClr val="426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3438144"/>
            <a:ext cx="1289304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300" b="1">
                <a:solidFill>
                  <a:srgbClr val="426CA3"/>
                </a:solidFill>
                <a:latin typeface="Aptos"/>
              </a:rPr>
              <a:t>US$ 2.428,01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453128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654296"/>
            <a:ext cx="1261872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008B8B"/>
                </a:solidFill>
                <a:latin typeface="Aptos"/>
              </a:rPr>
              <a:t>VENCEDORA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4617720"/>
            <a:ext cx="88056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15273B"/>
                </a:solidFill>
                <a:latin typeface="Aptos"/>
              </a:rPr>
              <a:t>128 → 128 → 64  ·  tanh  ·  Adam  ·  LR 0,000172  ·  lote 32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422392"/>
            <a:ext cx="10881360" cy="704088"/>
          </a:xfrm>
          <a:prstGeom prst="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8368" y="5422392"/>
            <a:ext cx="73152" cy="7040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553212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  <a:latin typeface="Aptos"/>
              </a:rPr>
              <a:t>−12,5% no MAE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03904" y="5522976"/>
            <a:ext cx="74066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5273B"/>
                </a:solidFill>
                <a:latin typeface="Aptos"/>
              </a:rPr>
              <a:t>Melhora frente à referência; TPE foi mais consistente entre tentativas.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Como as buscas se comportaram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MAE médio em cada tentativa e importância estimada dos hiperparâmetros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83080"/>
            <a:ext cx="10881360" cy="33558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75531"/>
            <a:ext cx="10588751" cy="297094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8368" y="5422392"/>
            <a:ext cx="10881360" cy="704088"/>
          </a:xfrm>
          <a:prstGeom prst="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5422392"/>
            <a:ext cx="73152" cy="7040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  <a:latin typeface="Aptos"/>
              </a:rPr>
              <a:t>Leitura do gráfico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5522976"/>
            <a:ext cx="74066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5273B"/>
                </a:solidFill>
                <a:latin typeface="Aptos"/>
              </a:rPr>
              <a:t>Random achou o menor MAE; TPE foi mais estável entre as 25 tentativas.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SENSIBILIDADE INDIVIDUAL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Taxa de aprendizado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Andrey de Matos Gonçalves · cinco valores, demais parâmetros fixos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83080"/>
            <a:ext cx="7114032" cy="33558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3070" y="1892807"/>
            <a:ext cx="5024627" cy="313639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19288" y="1783080"/>
            <a:ext cx="3520440" cy="33558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0456" y="2020824"/>
            <a:ext cx="64008" cy="32004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03336" y="2011680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08B8B"/>
                </a:solidFill>
                <a:latin typeface="Aptos"/>
              </a:rPr>
              <a:t>LEITURA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2487168"/>
            <a:ext cx="3008376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dirty="0" err="1">
                <a:solidFill>
                  <a:srgbClr val="15273B"/>
                </a:solidFill>
                <a:latin typeface="Aptos"/>
              </a:rPr>
              <a:t>Melhor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: 0,0001
MAE: US$ 2.377,48
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Taxas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maiores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elevaram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o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erro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em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até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US$ 476,10.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422392"/>
            <a:ext cx="10881360" cy="704088"/>
          </a:xfrm>
          <a:prstGeom prst="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8368" y="5422392"/>
            <a:ext cx="73152" cy="7040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553212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  <a:latin typeface="Aptos"/>
              </a:rPr>
              <a:t>Maior impacto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3904" y="5522976"/>
            <a:ext cx="74066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5273B"/>
                </a:solidFill>
                <a:latin typeface="Aptos"/>
              </a:rPr>
              <a:t>Learning rate teve a maior amplitude nas sensibilidades realizadas.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SENSIBILIDADE INDIVIDUAL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Tamanho do lote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Felipe Gabriel Souza Libório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83080"/>
            <a:ext cx="10881360" cy="33558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410" y="1892808"/>
            <a:ext cx="9401275" cy="313639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8368" y="5422392"/>
            <a:ext cx="10881360" cy="704088"/>
          </a:xfrm>
          <a:prstGeom prst="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5422392"/>
            <a:ext cx="73152" cy="7040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  <a:latin typeface="Aptos"/>
              </a:rPr>
              <a:t>Melhor: 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5522976"/>
            <a:ext cx="74066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5273B"/>
                </a:solidFill>
                <a:latin typeface="Aptos"/>
              </a:rPr>
              <a:t>MAE US$ 2.383,38; lote 64 ficou praticamente empatado.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SENSIBILIDADE INDIVIDUAL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Neurônios na primeira camada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Felipe Vieira Brazão e Silva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83080"/>
            <a:ext cx="10881360" cy="33558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410" y="1892808"/>
            <a:ext cx="9401275" cy="313639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8368" y="5422392"/>
            <a:ext cx="10881360" cy="704088"/>
          </a:xfrm>
          <a:prstGeom prst="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5422392"/>
            <a:ext cx="73152" cy="7040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  <a:latin typeface="Aptos"/>
              </a:rPr>
              <a:t>Melhor: 128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5522976"/>
            <a:ext cx="74066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5273B"/>
                </a:solidFill>
                <a:latin typeface="Aptos"/>
              </a:rPr>
              <a:t>MAE US$ 2.383,38; 256 e 512 não trouxeram ganho.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SENSIBILIDADE INDIVIDUAL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Paciência do Early Stopping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Gabriel Coelho Goes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83080"/>
            <a:ext cx="10881360" cy="33558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410" y="1892808"/>
            <a:ext cx="9401275" cy="313639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8368" y="5422392"/>
            <a:ext cx="10881360" cy="704088"/>
          </a:xfrm>
          <a:prstGeom prst="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5422392"/>
            <a:ext cx="73152" cy="7040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  <a:latin typeface="Aptos"/>
              </a:rPr>
              <a:t>8 é suficiente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5522976"/>
            <a:ext cx="74066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5273B"/>
                </a:solidFill>
                <a:latin typeface="Aptos"/>
              </a:rPr>
              <a:t>Paciências 8–20 empataram no MAE; 8 usou menos épocas.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INTERPRETAÇÃO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Por que o MMR ficou fora da v2?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Decisões sobre os atributos mantidas em todas as buscas e no teste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73936"/>
            <a:ext cx="5230368" cy="33192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59536" y="2011680"/>
            <a:ext cx="64008" cy="32004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2415" y="2002536"/>
            <a:ext cx="463600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08B8B"/>
                </a:solidFill>
                <a:latin typeface="Aptos"/>
              </a:rPr>
              <a:t>ATRIBUTOS REMOVIDOS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78024"/>
            <a:ext cx="4718304" cy="2432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15273B"/>
                </a:solidFill>
                <a:latin typeface="Aptos"/>
              </a:rPr>
              <a:t>mmr: já é uma estimativa de preço.
vin: identificador quase único.
seller: alta cardinalidade.
transmission: classe predominante.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73936"/>
            <a:ext cx="5413248" cy="33192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27648" y="2011680"/>
            <a:ext cx="64008" cy="320040"/>
          </a:xfrm>
          <a:prstGeom prst="rect">
            <a:avLst/>
          </a:prstGeom>
          <a:solidFill>
            <a:srgbClr val="426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0528" y="2002536"/>
            <a:ext cx="481888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26CA3"/>
                </a:solidFill>
                <a:latin typeface="Aptos"/>
              </a:rPr>
              <a:t>INFORMAÇÃO PRESERVADA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478024"/>
            <a:ext cx="4901183" cy="2432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15273B"/>
                </a:solidFill>
                <a:latin typeface="Aptos"/>
              </a:rPr>
              <a:t>year e saledate geram idade_veiculo.
color e interior são mantidas como informações complementares.
O modelo estima sem uma avaliação pronta de mercado.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422392"/>
            <a:ext cx="10881360" cy="704088"/>
          </a:xfrm>
          <a:prstGeom prst="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8368" y="5422392"/>
            <a:ext cx="73152" cy="7040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553212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  <a:latin typeface="Aptos"/>
              </a:rPr>
              <a:t>10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3904" y="5522976"/>
            <a:ext cx="74066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5273B"/>
                </a:solidFill>
                <a:latin typeface="Aptos"/>
              </a:rPr>
              <a:t>A v2 usa características do veículo, condição, uso e estado da venda.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AVALIAÇÃO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Resultado no teste reservado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Configuração vencedora treinada novamente; teste avaliado uma vez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83080"/>
            <a:ext cx="3429000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1947672"/>
            <a:ext cx="2971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D6D7D"/>
                </a:solidFill>
                <a:latin typeface="Aptos"/>
              </a:rPr>
              <a:t>MAE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185416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008B8B"/>
                </a:solidFill>
                <a:latin typeface="Aptos"/>
              </a:rPr>
              <a:t>US$ 2.083,09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770632"/>
            <a:ext cx="297180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5D6D7D"/>
                </a:solidFill>
                <a:latin typeface="Aptos"/>
              </a:rPr>
              <a:t>erro absoluto médio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08576" y="1947672"/>
            <a:ext cx="2971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D6D7D"/>
                </a:solidFill>
                <a:latin typeface="Aptos"/>
              </a:rPr>
              <a:t>RMSE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2185416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426CA3"/>
                </a:solidFill>
                <a:latin typeface="Aptos"/>
              </a:rPr>
              <a:t>US$ 3.646,98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2770632"/>
            <a:ext cx="297180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5D6D7D"/>
                </a:solidFill>
                <a:latin typeface="Aptos"/>
              </a:rPr>
              <a:t>penaliza erros grandes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3" y="1783080"/>
            <a:ext cx="3438144" cy="1261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30183" y="1947672"/>
            <a:ext cx="298094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D6D7D"/>
                </a:solidFill>
                <a:latin typeface="Aptos"/>
              </a:rPr>
              <a:t>R²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3" y="2185416"/>
            <a:ext cx="29809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B87020"/>
                </a:solidFill>
                <a:latin typeface="Aptos"/>
              </a:rPr>
              <a:t>0,8589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0183" y="2770632"/>
            <a:ext cx="2980944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5D6D7D"/>
                </a:solidFill>
                <a:latin typeface="Aptos"/>
              </a:rPr>
              <a:t>variância explicada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337560"/>
            <a:ext cx="5230368" cy="17922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59536" y="3575304"/>
            <a:ext cx="64008" cy="32004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42415" y="3566160"/>
            <a:ext cx="463600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08B8B"/>
                </a:solidFill>
                <a:latin typeface="Aptos"/>
              </a:rPr>
              <a:t>MODELO SELECIONADO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110228"/>
            <a:ext cx="4718304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rgbClr val="15273B"/>
                </a:solidFill>
                <a:latin typeface="Aptos"/>
              </a:rPr>
              <a:t>Random Search · 128 → 128 → 64 · tanh · Adam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337560"/>
            <a:ext cx="5413248" cy="17922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27648" y="3575304"/>
            <a:ext cx="64008" cy="320040"/>
          </a:xfrm>
          <a:prstGeom prst="rect">
            <a:avLst/>
          </a:prstGeom>
          <a:solidFill>
            <a:srgbClr val="426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10528" y="3566160"/>
            <a:ext cx="481888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426CA3"/>
                </a:solidFill>
                <a:latin typeface="Aptos"/>
              </a:rPr>
              <a:t>TREINAMENTO FINAL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4041648"/>
            <a:ext cx="4901183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rgbClr val="15273B"/>
                </a:solidFill>
                <a:latin typeface="Aptos"/>
              </a:rPr>
              <a:t>49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épocas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;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melhor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estado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restaurado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</a:t>
            </a:r>
            <a:r>
              <a:rPr sz="2000" b="0" dirty="0" err="1">
                <a:solidFill>
                  <a:srgbClr val="15273B"/>
                </a:solidFill>
                <a:latin typeface="Aptos"/>
              </a:rPr>
              <a:t>pelo</a:t>
            </a:r>
            <a:r>
              <a:rPr sz="2000" b="0" dirty="0">
                <a:solidFill>
                  <a:srgbClr val="15273B"/>
                </a:solidFill>
                <a:latin typeface="Aptos"/>
              </a:rPr>
              <a:t> Early Stopping.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5422392"/>
            <a:ext cx="10881360" cy="704088"/>
          </a:xfrm>
          <a:prstGeom prst="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58368" y="5422392"/>
            <a:ext cx="73152" cy="7040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553212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  <a:latin typeface="Aptos"/>
              </a:rPr>
              <a:t>Sem MMR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03904" y="5522976"/>
            <a:ext cx="74066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5273B"/>
                </a:solidFill>
                <a:latin typeface="Aptos"/>
              </a:rPr>
              <a:t>Estas métricas pertencem à v2, treinada sem a referência de preço.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DIAGNÓSTICO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Sobreajuste leve e tardio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Curvas do treino e da validação interna, sem consultar o teste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83080"/>
            <a:ext cx="10881360" cy="33558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410" y="1892808"/>
            <a:ext cx="9401275" cy="313639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8368" y="5422392"/>
            <a:ext cx="10881360" cy="704088"/>
          </a:xfrm>
          <a:prstGeom prst="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5422392"/>
            <a:ext cx="73152" cy="7040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  <a:latin typeface="Aptos"/>
              </a:rPr>
              <a:t>Época 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5522976"/>
            <a:ext cx="74066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5273B"/>
                </a:solidFill>
                <a:latin typeface="Aptos"/>
              </a:rPr>
              <a:t>Melhor validação; treino parou na 49 e restaurou os melhores pesos.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7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67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7BD5CD"/>
                </a:solidFill>
                <a:latin typeface="Aptos"/>
              </a:rPr>
              <a:t>CONCLUSÃO  /  EXPERIMENTO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99032"/>
            <a:ext cx="1051560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Aptos"/>
              </a:rPr>
              <a:t>A MLP estimou preços sem usar
uma avaliação prévia de mercado.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94760"/>
            <a:ext cx="1014984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7BD5CD"/>
                </a:solidFill>
                <a:latin typeface="Aptos"/>
              </a:rPr>
              <a:t>MAE no teste: US$ 2.083,09   ·   R²: 0,8589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828032"/>
            <a:ext cx="10561320" cy="18288"/>
          </a:xfrm>
          <a:prstGeom prst="rect">
            <a:avLst/>
          </a:prstGeom>
          <a:solidFill>
            <a:srgbClr val="577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5093208"/>
            <a:ext cx="102412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CDDCE5"/>
                </a:solidFill>
                <a:latin typeface="Aptos"/>
              </a:rPr>
              <a:t>Random Search venceu no melhor ponto; TPE foi mais consistente.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99048"/>
            <a:ext cx="3200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Obrigado.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20040"/>
            <a:ext cx="96012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08B8B"/>
                </a:solidFill>
                <a:latin typeface="Aptos"/>
              </a:rPr>
              <a:t>APÊNDICE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10881360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5273B"/>
                </a:solidFill>
                <a:latin typeface="Aptos"/>
              </a:rPr>
              <a:t>Fontes e documentação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107899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5D6D7D"/>
                </a:solidFill>
                <a:latin typeface="Aptos"/>
              </a:rPr>
              <a:t>Referências usadas para verificar dados, modelo e método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82512"/>
            <a:ext cx="10881360" cy="13716"/>
          </a:xfrm>
          <a:prstGeom prst="rect">
            <a:avLst/>
          </a:prstGeom>
          <a:solidFill>
            <a:srgbClr val="DA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86868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5D6D7D"/>
                </a:solidFill>
                <a:latin typeface="Aptos"/>
              </a:rPr>
              <a:t>MLP  /  PREVISÃO DE PREÇOS DE VEÍCULOS  / 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91088" y="64556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>
                <a:solidFill>
                  <a:srgbClr val="5D6D7D"/>
                </a:solidFill>
                <a:latin typeface="Aptos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73936"/>
            <a:ext cx="10881360" cy="33284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A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59536" y="2011680"/>
            <a:ext cx="64008" cy="32004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2415" y="2002536"/>
            <a:ext cx="102870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08B8B"/>
                </a:solidFill>
                <a:latin typeface="Aptos"/>
              </a:rPr>
              <a:t>FONTES PRINCIPAIS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78024"/>
            <a:ext cx="10369296" cy="2441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15273B"/>
                </a:solidFill>
                <a:latin typeface="Aptos"/>
              </a:rPr>
              <a:t>Dataset: kaggle.com/datasets/syedanwarafridi/vehicle-sales-data
MLP e Early Stopping: keras.io · tensorflow.org
Pré-processamento e validação: scikit-learn.org/1.5
Otimização TPE: optuna.readthedocs.io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422392"/>
            <a:ext cx="10881360" cy="704088"/>
          </a:xfrm>
          <a:prstGeom prst="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8368" y="5422392"/>
            <a:ext cx="73152" cy="704088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553212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  <a:latin typeface="Aptos"/>
              </a:rPr>
              <a:t>Registro completo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3904" y="5522976"/>
            <a:ext cx="740664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5273B"/>
                </a:solidFill>
                <a:latin typeface="Aptos"/>
              </a:rPr>
              <a:t>Citações e execução detalhada constam no notebook version02.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1385</Words>
  <Application>Microsoft Office PowerPoint</Application>
  <PresentationFormat>Widescreen</PresentationFormat>
  <Paragraphs>240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4" baseType="lpstr">
      <vt:lpstr>Aptos</vt:lpstr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Previsão de preços de veículos com MLP — versão 2</dc:title>
  <dc:subject>Resultados do notebook version02: Random Search, TPE e MLP sem MMR</dc:subject>
  <dc:creator>Andrey, Felipe Gabriel, Felipe Vieira e Gabriel</dc:creator>
  <cp:keywords/>
  <dc:description>generated using python-pptx</dc:description>
  <cp:lastModifiedBy>Felipe Vieira Brazao E Silva</cp:lastModifiedBy>
  <cp:revision>2</cp:revision>
  <dcterms:created xsi:type="dcterms:W3CDTF">2013-01-27T09:14:16Z</dcterms:created>
  <dcterms:modified xsi:type="dcterms:W3CDTF">2026-09-27T22:34:10Z</dcterms:modified>
  <cp:category/>
</cp:coreProperties>
</file>