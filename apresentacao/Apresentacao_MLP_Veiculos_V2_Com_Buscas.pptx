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B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1097280"/>
            <a:ext cx="45720" cy="4297680"/>
          </a:xfrm>
          <a:prstGeom prst="rect">
            <a:avLst/>
          </a:prstGeom>
          <a:solidFill>
            <a:srgbClr val="29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1618488"/>
            <a:ext cx="45720" cy="3886200"/>
          </a:xfrm>
          <a:prstGeom prst="rect">
            <a:avLst/>
          </a:prstGeom>
          <a:solidFill>
            <a:srgbClr val="297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0696" y="2139696"/>
            <a:ext cx="45720" cy="3474720"/>
          </a:xfrm>
          <a:prstGeom prst="rect">
            <a:avLst/>
          </a:prstGeom>
          <a:solidFill>
            <a:srgbClr val="29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24744" y="2660904"/>
            <a:ext cx="45720" cy="3063240"/>
          </a:xfrm>
          <a:prstGeom prst="rect">
            <a:avLst/>
          </a:prstGeom>
          <a:solidFill>
            <a:srgbClr val="29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08792" y="3182111"/>
            <a:ext cx="45720" cy="2651760"/>
          </a:xfrm>
          <a:prstGeom prst="rect">
            <a:avLst/>
          </a:prstGeom>
          <a:solidFill>
            <a:srgbClr val="299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7BD5CD"/>
                </a:solidFill>
                <a:latin typeface="Aptos"/>
              </a:rPr>
              <a:t>INTELIGÊNCIA COMPUTACIONAL  /  EXPERIMENTO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98448"/>
            <a:ext cx="7955279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"/>
              </a:rPr>
              <a:t>Previsão de preços
de veículos com MLP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346704"/>
            <a:ext cx="950976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675887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CDDCE5"/>
                </a:solidFill>
                <a:latin typeface="Aptos"/>
              </a:rPr>
              <a:t>Random Search × TPE
Modelo sem MMR e análise de sensibilidade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833872"/>
            <a:ext cx="82296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B9CDD8"/>
                </a:solidFill>
                <a:latin typeface="Aptos"/>
              </a:rPr>
              <a:t>Andrey de Matos Gonçalves  ·  Felipe Gabriel Souza Libório
Felipe Vieira Brazão e Silva  ·  Gabriel Coelho Goes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DATASET E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Quais dados entram e o que prevemos?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Vehicle Sales and Market Trends · leilões de veículos nos EUA ·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55648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20240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REGISTROS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57984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8B8B"/>
                </a:solidFill>
                <a:latin typeface="Aptos"/>
              </a:rPr>
              <a:t>558.837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755648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920240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COLUNAS ORIGINAIS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57984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8B8B"/>
                </a:solidFill>
                <a:latin typeface="Aptos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743200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D6D7D"/>
                </a:solidFill>
                <a:latin typeface="Aptos"/>
              </a:rPr>
              <a:t>15 atributos + 1 alvo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755648"/>
            <a:ext cx="3438144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920240"/>
            <a:ext cx="29809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UNIDADE DO ALVO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157984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8B8B"/>
                </a:solidFill>
                <a:latin typeface="Aptos"/>
              </a:rPr>
              <a:t>US$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55264"/>
            <a:ext cx="342900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" y="3493008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3483864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VEÍCULO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59352"/>
            <a:ext cx="29169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5273B"/>
                </a:solidFill>
                <a:latin typeface="Aptos"/>
              </a:rPr>
              <a:t>year, make, model
+ trim, body e outras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9976" y="3255264"/>
            <a:ext cx="342900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81144" y="3493008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4024" y="3483864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USO E CONSERVAÇÃO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959352"/>
            <a:ext cx="29169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5273B"/>
                </a:solidFill>
                <a:latin typeface="Aptos"/>
              </a:rPr>
              <a:t>condition, odometer
+ idade derivada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3255264"/>
            <a:ext cx="343814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02752" y="3493008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3483864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CONTEXTO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3959352"/>
            <a:ext cx="29260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5273B"/>
                </a:solidFill>
                <a:latin typeface="Aptos"/>
              </a:rPr>
              <a:t>state, saledate
mmr só no diagnóstico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83480"/>
            <a:ext cx="10881360" cy="978408"/>
          </a:xfrm>
          <a:prstGeom prst="roundRect">
            <a:avLst>
              <a:gd name="adj" fmla="val 12000"/>
            </a:avLst>
          </a:prstGeom>
          <a:solidFill>
            <a:srgbClr val="15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12978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7BD5CD"/>
                </a:solidFill>
                <a:latin typeface="Aptos"/>
              </a:rPr>
              <a:t>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8581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sellingprice  ·  preço final de venda, em dólares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605332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D6D7D"/>
                </a:solidFill>
                <a:latin typeface="Aptos"/>
              </a:rPr>
              <a:t>A MLP da v2 usa 10 features finais e não recebe a estimativa MMR.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EXPLORAÇÃO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Diagnóstico e distribuição do preço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O alvo é assimétrico e apresenta valores extremos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1088136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08" y="1883664"/>
            <a:ext cx="10324279" cy="22494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4489704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65429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MEDIANA DO ALVO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89204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8B8B"/>
                </a:solidFill>
                <a:latin typeface="Aptos"/>
              </a:rPr>
              <a:t>US$ 12.100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4489704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65429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MAIOR VALOR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489204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26CA3"/>
                </a:solidFill>
                <a:latin typeface="Aptos"/>
              </a:rPr>
              <a:t>US$ 230 mil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4489704"/>
            <a:ext cx="3438144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4654296"/>
            <a:ext cx="29809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PREÇOS AUSENTES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4892040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B87020"/>
                </a:solidFill>
                <a:latin typeface="Apto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934456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D6D7D"/>
                </a:solidFill>
                <a:latin typeface="Aptos"/>
              </a:rPr>
              <a:t>O MMR aparece na exploração para diagnóstico, mas é excluído do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EXPLORAÇÃO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Como os números se relacionam ao preço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Correlação de Spearman com sellingprice; associação não implica causa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64792"/>
            <a:ext cx="1088136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D6D7D"/>
                </a:solidFill>
                <a:latin typeface="Aptos"/>
              </a:rPr>
              <a:t>ATRIBUTO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2011680"/>
            <a:ext cx="13441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5D6D7D"/>
                </a:solidFill>
                <a:latin typeface="Aptos"/>
              </a:rPr>
              <a:t>CORRELAÇÃO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3096" y="2340864"/>
            <a:ext cx="13716" cy="2468880"/>
          </a:xfrm>
          <a:prstGeom prst="rect">
            <a:avLst/>
          </a:prstGeom>
          <a:solidFill>
            <a:srgbClr val="5D6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14016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mmr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3096" y="2464308"/>
            <a:ext cx="2578169" cy="173736"/>
          </a:xfrm>
          <a:prstGeom prst="rect">
            <a:avLst/>
          </a:prstGeom>
          <a:solidFill>
            <a:srgbClr val="426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39528" y="2414016"/>
            <a:ext cx="11978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426CA3"/>
                </a:solidFill>
                <a:latin typeface="Aptos"/>
              </a:rPr>
              <a:t>+0,979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80360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3096" y="2930652"/>
            <a:ext cx="1788127" cy="17373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9528" y="2880360"/>
            <a:ext cx="11978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008B8B"/>
                </a:solidFill>
                <a:latin typeface="Aptos"/>
              </a:rPr>
              <a:t>+0,679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46704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condition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83096" y="3396996"/>
            <a:ext cx="1264066" cy="17373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3346704"/>
            <a:ext cx="11978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008B8B"/>
                </a:solidFill>
                <a:latin typeface="Aptos"/>
              </a:rPr>
              <a:t>+0,480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13048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idade_veiculo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2868" y="3863339"/>
            <a:ext cx="1780227" cy="173736"/>
          </a:xfrm>
          <a:prstGeom prst="rect">
            <a:avLst/>
          </a:prstGeom>
          <a:solidFill>
            <a:srgbClr val="B8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9528" y="3813048"/>
            <a:ext cx="11978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B87020"/>
                </a:solidFill>
                <a:latin typeface="Aptos"/>
              </a:rPr>
              <a:t>-0,676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79392"/>
            <a:ext cx="1920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odometer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26498" y="4329683"/>
            <a:ext cx="1856597" cy="173736"/>
          </a:xfrm>
          <a:prstGeom prst="rect">
            <a:avLst/>
          </a:prstGeom>
          <a:solidFill>
            <a:srgbClr val="B8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4279392"/>
            <a:ext cx="11978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B87020"/>
                </a:solidFill>
                <a:latin typeface="Aptos"/>
              </a:rPr>
              <a:t>-0,705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MMR: 0,979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É uma estimativa de preço pronta; aparece na análise, mas fica fora da MLP.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EXPLORAÇÃO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Preço mediano por categoria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Exemplos de categorias frequentes; valores em US$ no conjunto original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342900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56816"/>
            <a:ext cx="30266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273B"/>
                </a:solidFill>
                <a:latin typeface="Aptos"/>
              </a:rPr>
              <a:t>Carroceria ·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23744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5273B"/>
                </a:solidFill>
                <a:latin typeface="Aptos"/>
              </a:rPr>
              <a:t>SUV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2536" y="2551175"/>
            <a:ext cx="969264" cy="18288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02536" y="2551175"/>
            <a:ext cx="914742" cy="1828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523744"/>
            <a:ext cx="8321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8B8B"/>
                </a:solidFill>
                <a:latin typeface="Aptos"/>
              </a:rPr>
              <a:t>15.100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044951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5273B"/>
                </a:solidFill>
                <a:latin typeface="Aptos"/>
              </a:rPr>
              <a:t>sedan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02536" y="3072383"/>
            <a:ext cx="969264" cy="18288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02536" y="3072383"/>
            <a:ext cx="666369" cy="1828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044951"/>
            <a:ext cx="8321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8B8B"/>
                </a:solidFill>
                <a:latin typeface="Aptos"/>
              </a:rPr>
              <a:t>11.000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566159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5273B"/>
                </a:solidFill>
                <a:latin typeface="Aptos"/>
              </a:rPr>
              <a:t>hatchback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02536" y="3593591"/>
            <a:ext cx="969264" cy="18288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02536" y="3593591"/>
            <a:ext cx="599732" cy="1828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3566159"/>
            <a:ext cx="8321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8B8B"/>
                </a:solidFill>
                <a:latin typeface="Aptos"/>
              </a:rPr>
              <a:t>9.900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9976" y="1773936"/>
            <a:ext cx="342900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81144" y="1956816"/>
            <a:ext cx="302666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273B"/>
                </a:solidFill>
                <a:latin typeface="Aptos"/>
              </a:rPr>
              <a:t>Cor externa · color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2523744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5273B"/>
                </a:solidFill>
                <a:latin typeface="Aptos"/>
              </a:rPr>
              <a:t>black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24144" y="2551175"/>
            <a:ext cx="969264" cy="18288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24144" y="2551175"/>
            <a:ext cx="817816" cy="182880"/>
          </a:xfrm>
          <a:prstGeom prst="rect">
            <a:avLst/>
          </a:prstGeom>
          <a:solidFill>
            <a:srgbClr val="426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5" y="2523744"/>
            <a:ext cx="8321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426CA3"/>
                </a:solidFill>
                <a:latin typeface="Aptos"/>
              </a:rPr>
              <a:t>13.500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3044951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5273B"/>
                </a:solidFill>
                <a:latin typeface="Aptos"/>
              </a:rPr>
              <a:t>white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24144" y="3072383"/>
            <a:ext cx="969264" cy="18288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24144" y="3072383"/>
            <a:ext cx="799642" cy="182880"/>
          </a:xfrm>
          <a:prstGeom prst="rect">
            <a:avLst/>
          </a:prstGeom>
          <a:solidFill>
            <a:srgbClr val="426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5" y="3044951"/>
            <a:ext cx="8321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426CA3"/>
                </a:solidFill>
                <a:latin typeface="Aptos"/>
              </a:rPr>
              <a:t>13.200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4" y="3566159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5273B"/>
                </a:solidFill>
                <a:latin typeface="Aptos"/>
              </a:rPr>
              <a:t>silver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24144" y="3593591"/>
            <a:ext cx="969264" cy="18288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24144" y="3593591"/>
            <a:ext cx="642137" cy="182880"/>
          </a:xfrm>
          <a:prstGeom prst="rect">
            <a:avLst/>
          </a:prstGeom>
          <a:solidFill>
            <a:srgbClr val="426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57415" y="3566159"/>
            <a:ext cx="8321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426CA3"/>
                </a:solidFill>
                <a:latin typeface="Aptos"/>
              </a:rPr>
              <a:t>10.600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1773936"/>
            <a:ext cx="3438144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1956816"/>
            <a:ext cx="30358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273B"/>
                </a:solidFill>
                <a:latin typeface="Aptos"/>
              </a:rPr>
              <a:t>Interior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2523744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5273B"/>
                </a:solidFill>
                <a:latin typeface="Aptos"/>
              </a:rPr>
              <a:t>black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45752" y="2551175"/>
            <a:ext cx="978407" cy="18288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45752" y="2551175"/>
            <a:ext cx="843876" cy="182880"/>
          </a:xfrm>
          <a:prstGeom prst="rect">
            <a:avLst/>
          </a:prstGeom>
          <a:solidFill>
            <a:srgbClr val="B8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88167" y="2523744"/>
            <a:ext cx="8321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B87020"/>
                </a:solidFill>
                <a:latin typeface="Aptos"/>
              </a:rPr>
              <a:t>13.800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3044951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5273B"/>
                </a:solidFill>
                <a:latin typeface="Aptos"/>
              </a:rPr>
              <a:t>beige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45752" y="3072383"/>
            <a:ext cx="978407" cy="18288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45752" y="3072383"/>
            <a:ext cx="733805" cy="182880"/>
          </a:xfrm>
          <a:prstGeom prst="rect">
            <a:avLst/>
          </a:prstGeom>
          <a:solidFill>
            <a:srgbClr val="B8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88167" y="3044951"/>
            <a:ext cx="8321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B87020"/>
                </a:solidFill>
                <a:latin typeface="Aptos"/>
              </a:rPr>
              <a:t>12.000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3566159"/>
            <a:ext cx="1115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5273B"/>
                </a:solidFill>
                <a:latin typeface="Aptos"/>
              </a:rPr>
              <a:t>gray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45752" y="3593591"/>
            <a:ext cx="978407" cy="18288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45752" y="3593591"/>
            <a:ext cx="611504" cy="182880"/>
          </a:xfrm>
          <a:prstGeom prst="rect">
            <a:avLst/>
          </a:prstGeom>
          <a:solidFill>
            <a:srgbClr val="B8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88167" y="3566159"/>
            <a:ext cx="8321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B87020"/>
                </a:solidFill>
                <a:latin typeface="Aptos"/>
              </a:rPr>
              <a:t>10.000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Leitura cautelosa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Modelo, ano, uso e condição também variam entre grupos; não há efeito causal isolado.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Da tabela original às 10 features da MLP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Limpeza determinística antes da divisão; estatísticas ajustadas só no treino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5230368" cy="3310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011680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2002536"/>
            <a:ext cx="4636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REMOÇÃO E ENGENHARIA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4718304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Fora do modelo: vin, seller, mmr e transmission.
year + saledate → idade_veiculo.
condition é corrigida; textos e categorias inválidas são padronizados.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73936"/>
            <a:ext cx="5413248" cy="3310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2011680"/>
            <a:ext cx="64008" cy="320040"/>
          </a:xfrm>
          <a:prstGeom prst="rect">
            <a:avLst/>
          </a:prstGeom>
          <a:solidFill>
            <a:srgbClr val="426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002536"/>
            <a:ext cx="48188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6CA3"/>
                </a:solidFill>
                <a:latin typeface="Aptos"/>
              </a:rPr>
              <a:t>ENTRADAS MANTIDAS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478024"/>
            <a:ext cx="4901183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Numéricas: condition, odometer, idade_veiculo.
Categóricas: make, model, trim, body, state, color, interior.
Ausentes → imputação; numéricas → escala; categóricas → one-hot.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Sem MMR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A previsão depende de atributos do veículo, não de um preço pronto.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Treino, busca e teste reservado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A divisão por faixas de preço preserva a distribuição do alvo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92224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5681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TREINO ·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945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8B8B"/>
                </a:solidFill>
                <a:latin typeface="Aptos"/>
              </a:rPr>
              <a:t>447.060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792224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95681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AMOSTRA PARA BUSCAS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26CA3"/>
                </a:solidFill>
                <a:latin typeface="Aptos"/>
              </a:rPr>
              <a:t>100.000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792224"/>
            <a:ext cx="3438144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56816"/>
            <a:ext cx="29809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TESTE · 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194560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B87020"/>
                </a:solidFill>
                <a:latin typeface="Aptos"/>
              </a:rPr>
              <a:t>111.765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28416"/>
            <a:ext cx="5230368" cy="1801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" y="3566160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3557016"/>
            <a:ext cx="4636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BUSCA DE HIPERPARÂMETROS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32504"/>
            <a:ext cx="47183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73B"/>
                </a:solidFill>
                <a:latin typeface="Aptos"/>
              </a:rPr>
              <a:t>A amostra vem apenas do treino e é avaliada em 3 folds.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328416"/>
            <a:ext cx="5413248" cy="1801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3566160"/>
            <a:ext cx="64008" cy="320040"/>
          </a:xfrm>
          <a:prstGeom prst="rect">
            <a:avLst/>
          </a:prstGeom>
          <a:solidFill>
            <a:srgbClr val="B8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557016"/>
            <a:ext cx="48188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87020"/>
                </a:solidFill>
                <a:latin typeface="Aptos"/>
              </a:rPr>
              <a:t>TESTE 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032504"/>
            <a:ext cx="490118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73B"/>
                </a:solidFill>
                <a:latin typeface="Aptos"/>
              </a:rPr>
              <a:t>Permanece intocado até a configuração ser escolhida.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Sem vazamento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Imputação, escala e one-hot são ajustados em cada partição de treino.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MODELO DE REFERÊNCIA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O ponto inicial antes das buscas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A mesma amostra de 100 mil linhas e os mesmos 3 folds são usados depois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5230368" cy="3310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011680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2002536"/>
            <a:ext cx="4636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MLP DE REFERÊNCIA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4718304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5273B"/>
                </a:solidFill>
                <a:latin typeface="Aptos"/>
              </a:rPr>
              <a:t>64 → 32 neurônios · ReLU
Adam · learning rate 0,001
Lote 128 · até 80 épocas
Early Stopping: paciência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73936"/>
            <a:ext cx="541324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38528"/>
            <a:ext cx="49560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MAE MÉDIO · 3 FOLDS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7627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8B8B"/>
                </a:solidFill>
                <a:latin typeface="Aptos"/>
              </a:rPr>
              <a:t>US$ 2.723,18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255264"/>
            <a:ext cx="541324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419856"/>
            <a:ext cx="49560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R² MÉDIO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57600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26CA3"/>
                </a:solidFill>
                <a:latin typeface="Aptos"/>
              </a:rPr>
              <a:t>0,7710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Referência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As buscas serão comparadas a este MAE médio, não ao melhor fold.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OTIMIZAÇÃO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Duas buscas, o mesmo orçamento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25 configurações × 3 folds por estratégia = 75 treinos em cada busca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5230368" cy="33284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011680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2002536"/>
            <a:ext cx="4636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RANDOM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4718304" cy="2441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Sorteia combinações independentes no espaço definido.
Explora 1–3 camadas, 32–256 neurônios, ReLU/tanh, Adam/RMSprop, lote, learning rate e paciência.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73936"/>
            <a:ext cx="5413248" cy="33284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2011680"/>
            <a:ext cx="64008" cy="320040"/>
          </a:xfrm>
          <a:prstGeom prst="rect">
            <a:avLst/>
          </a:prstGeom>
          <a:solidFill>
            <a:srgbClr val="426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002536"/>
            <a:ext cx="48188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6CA3"/>
                </a:solidFill>
                <a:latin typeface="Aptos"/>
              </a:rPr>
              <a:t>TPE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478024"/>
            <a:ext cx="4901183" cy="2441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Usa os resultados das próprias tentativas anteriores para sugerir as próximas.
Recebe o mesmo espaço de busca, a mesma amostra e o mesmo critério: MAE médio.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Comparação justa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Mesmo conjunto, folds, métrica e número de tentativas.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Random Search encontrou o melhor ponto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MAE médio de validação cruzada; menor é melhor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73936"/>
            <a:ext cx="22219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273B"/>
                </a:solidFill>
                <a:latin typeface="Aptos"/>
              </a:rPr>
              <a:t>Referência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8376" y="1819656"/>
            <a:ext cx="7004304" cy="256032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8376" y="1819656"/>
            <a:ext cx="6357993" cy="256032"/>
          </a:xfrm>
          <a:prstGeom prst="rect">
            <a:avLst/>
          </a:prstGeom>
          <a:solidFill>
            <a:srgbClr val="5D6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1773936"/>
            <a:ext cx="128930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5D6D7D"/>
                </a:solidFill>
                <a:latin typeface="Aptos"/>
              </a:rPr>
              <a:t>US$ 2.723,18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606040"/>
            <a:ext cx="22219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273B"/>
                </a:solidFill>
                <a:latin typeface="Aptos"/>
              </a:rPr>
              <a:t>Random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8376" y="2651760"/>
            <a:ext cx="7004304" cy="256032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08376" y="2651760"/>
            <a:ext cx="5564639" cy="2560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2606040"/>
            <a:ext cx="128930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008B8B"/>
                </a:solidFill>
                <a:latin typeface="Aptos"/>
              </a:rPr>
              <a:t>US$ 2.383,38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438144"/>
            <a:ext cx="22219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273B"/>
                </a:solidFill>
                <a:latin typeface="Aptos"/>
              </a:rPr>
              <a:t>TPE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8376" y="3483863"/>
            <a:ext cx="7004304" cy="256032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08376" y="3483863"/>
            <a:ext cx="5668840" cy="256032"/>
          </a:xfrm>
          <a:prstGeom prst="rect">
            <a:avLst/>
          </a:prstGeom>
          <a:solidFill>
            <a:srgbClr val="426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3438144"/>
            <a:ext cx="128930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426CA3"/>
                </a:solidFill>
                <a:latin typeface="Aptos"/>
              </a:rPr>
              <a:t>US$ 2.428,01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453128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54296"/>
            <a:ext cx="126187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08B8B"/>
                </a:solidFill>
                <a:latin typeface="Aptos"/>
              </a:rPr>
              <a:t>VENCEDORA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617720"/>
            <a:ext cx="8805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273B"/>
                </a:solidFill>
                <a:latin typeface="Aptos"/>
              </a:rPr>
              <a:t>128 → 128 → 64  ·  tanh  ·  Adam  ·  LR 0,000172  ·  lote 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−12,5% no 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Melhora frente à referência; TPE foi mais consistente entre tentativas.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Como as buscas se comportaram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MAE médio em cada tentativa e importância estimada dos hiperparâmetros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1088136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75531"/>
            <a:ext cx="10588751" cy="29709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Leitura do gráfico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Random achou o menor MAE; TPE foi mais estável entre as 25 tentativas.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SENSIBILIDADE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Taxa de aprendizado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Andrey de Matos Gonçalves · cinco valores, demais parâmetros fixos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711403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070" y="1892807"/>
            <a:ext cx="5024627" cy="31363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19288" y="1783080"/>
            <a:ext cx="352044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0456" y="2020824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2011680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LEITURA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487168"/>
            <a:ext cx="3008376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73B"/>
                </a:solidFill>
                <a:latin typeface="Aptos"/>
              </a:rPr>
              <a:t>Melhor: 0,0001
MAE: US$ 2.377,48
Taxas maiores elevaram o erro em até US$ 476,10.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Maior impacto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Learning rate teve a maior amplitude nas sensibilidades realizadas.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SENSIBILIDADE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Tamanho do lote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Felipe Gabriel Souza Libório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1088136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10" y="1892808"/>
            <a:ext cx="9401275" cy="31363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Melhor: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MAE US$ 2.383,38; lote 64 ficou praticamente empatado.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SENSIBILIDADE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Neurônios na primeira camada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Felipe Vieira Brazão e Silva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1088136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10" y="1892808"/>
            <a:ext cx="9401275" cy="31363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Melhor: 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MAE US$ 2.383,38; 256 e 512 não trouxeram ganho.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SENSIBILIDADE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Paciência do Early Stopping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Gabriel Coelho Goes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1088136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10" y="1892808"/>
            <a:ext cx="9401275" cy="31363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8 é suficiente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Paciências 8–20 empataram no MAE; 8 usou menos épocas.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INTERPRETAÇÃO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Por que o MMR ficou fora da v2?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Decisões sobre os atributos mantidas em todas as buscas e no teste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5230368" cy="3319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011680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2002536"/>
            <a:ext cx="4636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ATRIBUTOS REMOVIDOS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47183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73B"/>
                </a:solidFill>
                <a:latin typeface="Aptos"/>
              </a:rPr>
              <a:t>mmr: já é uma estimativa de preço.
vin: identificador quase único.
seller: alta cardinalidade.
transmission: classe predominante.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73936"/>
            <a:ext cx="5413248" cy="3319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2011680"/>
            <a:ext cx="64008" cy="320040"/>
          </a:xfrm>
          <a:prstGeom prst="rect">
            <a:avLst/>
          </a:prstGeom>
          <a:solidFill>
            <a:srgbClr val="426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002536"/>
            <a:ext cx="48188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6CA3"/>
                </a:solidFill>
                <a:latin typeface="Aptos"/>
              </a:rPr>
              <a:t>INFORMAÇÃO PRESERVADA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478024"/>
            <a:ext cx="49011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5273B"/>
                </a:solidFill>
                <a:latin typeface="Aptos"/>
              </a:rPr>
              <a:t>year e saledate geram idade_veiculo.
color e interior são mantidas como informações complementares.
O modelo estima sem uma avaliação pronta de mercado.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10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A v2 usa características do veículo, condição, uso e estado da venda.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AVALIAÇÃO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Resultado no teste reservado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Configuração vencedora treinada novamente; teste avaliado uma vez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85416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8B8B"/>
                </a:solidFill>
                <a:latin typeface="Aptos"/>
              </a:rPr>
              <a:t>US$ 2.083,09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70632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D6D7D"/>
                </a:solidFill>
                <a:latin typeface="Aptos"/>
              </a:rPr>
              <a:t>erro absoluto médio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947672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185416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26CA3"/>
                </a:solidFill>
                <a:latin typeface="Aptos"/>
              </a:rPr>
              <a:t>US$ 3.646,98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770632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D6D7D"/>
                </a:solidFill>
                <a:latin typeface="Aptos"/>
              </a:rPr>
              <a:t>penaliza erros grandes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83080"/>
            <a:ext cx="3438144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1947672"/>
            <a:ext cx="29809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D6D7D"/>
                </a:solidFill>
                <a:latin typeface="Aptos"/>
              </a:rPr>
              <a:t>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185416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B87020"/>
                </a:solidFill>
                <a:latin typeface="Aptos"/>
              </a:rPr>
              <a:t>0,8589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770632"/>
            <a:ext cx="29809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D6D7D"/>
                </a:solidFill>
                <a:latin typeface="Aptos"/>
              </a:rPr>
              <a:t>variância explicada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37560"/>
            <a:ext cx="5230368" cy="1792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3575304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3566160"/>
            <a:ext cx="4636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MODELO SELECIONADO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41648"/>
            <a:ext cx="471830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73B"/>
                </a:solidFill>
                <a:latin typeface="Aptos"/>
              </a:rPr>
              <a:t>Random Search · 128 → 128 → 64 · tanh · Adam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337560"/>
            <a:ext cx="5413248" cy="1792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7648" y="3575304"/>
            <a:ext cx="64008" cy="320040"/>
          </a:xfrm>
          <a:prstGeom prst="rect">
            <a:avLst/>
          </a:prstGeom>
          <a:solidFill>
            <a:srgbClr val="426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566160"/>
            <a:ext cx="48188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6CA3"/>
                </a:solidFill>
                <a:latin typeface="Aptos"/>
              </a:rPr>
              <a:t>TREINAMENTO 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041648"/>
            <a:ext cx="4901183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73B"/>
                </a:solidFill>
                <a:latin typeface="Aptos"/>
              </a:rPr>
              <a:t>49 épocas; melhor estado restaurado pelo Early Stopping.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Sem MMR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Estas métricas pertencem à v2, treinada sem a referência de preço.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Sobreajuste leve e tardio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Curvas do treino e da validação interna, sem consultar o teste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1088136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10" y="1892808"/>
            <a:ext cx="9401275" cy="31363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Época 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Melhor validação; treino parou na 49 e restaurou os melhores pesos.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6751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7BD5CD"/>
                </a:solidFill>
                <a:latin typeface="Aptos"/>
              </a:rPr>
              <a:t>CONCLUSÃO  /  EXPERIMENTO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99032"/>
            <a:ext cx="105156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A MLP estimou preços sem usar
uma avaliação prévia de mercado.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10149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7BD5CD"/>
                </a:solidFill>
                <a:latin typeface="Aptos"/>
              </a:rPr>
              <a:t>MAE no teste: US$ 2.083,09   ·   R²: 0,8589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28032"/>
            <a:ext cx="10561320" cy="18288"/>
          </a:xfrm>
          <a:prstGeom prst="rect">
            <a:avLst/>
          </a:prstGeom>
          <a:solidFill>
            <a:srgbClr val="577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93208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CDDCE5"/>
                </a:solidFill>
                <a:latin typeface="Aptos"/>
              </a:rPr>
              <a:t>Random Search venceu no melhor ponto; TPE foi mais consistente.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9904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Obrigado.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8B8B"/>
                </a:solidFill>
                <a:latin typeface="Aptos"/>
              </a:rPr>
              <a:t>APÊNDICE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88136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5273B"/>
                </a:solidFill>
                <a:latin typeface="Aptos"/>
              </a:rPr>
              <a:t>Fontes e documentação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243584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D6D7D"/>
                </a:solidFill>
                <a:latin typeface="Aptos"/>
              </a:rPr>
              <a:t>Referências usadas para verificar dados, modelo e método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81360" cy="1371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8686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D6D7D"/>
                </a:solidFill>
                <a:latin typeface="Aptos"/>
              </a:rPr>
              <a:t>MLP  /  PREVISÃO DE PREÇOS DE VEÍCULOS  /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D6D7D"/>
                </a:solidFill>
                <a:latin typeface="Aptos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10881360" cy="33284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011680"/>
            <a:ext cx="64008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2002536"/>
            <a:ext cx="10287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Aptos"/>
              </a:rPr>
              <a:t>FONTES PRINCIPAIS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10369296" cy="2441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73B"/>
                </a:solidFill>
                <a:latin typeface="Aptos"/>
              </a:rPr>
              <a:t>Dataset: kaggle.com/datasets/syedanwarafridi/vehicle-sales-data
MLP e Early Stopping: keras.io · tensorflow.org
Pré-processamento e validação: scikit-learn.org/1.5
Otimização TPE: optuna.readthedocs.io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422392"/>
            <a:ext cx="10881360" cy="704088"/>
          </a:xfrm>
          <a:prstGeom prst="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5422392"/>
            <a:ext cx="73152" cy="7040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8B8B"/>
                </a:solidFill>
                <a:latin typeface="Aptos"/>
              </a:rPr>
              <a:t>Registro completo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5522976"/>
            <a:ext cx="7406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5273B"/>
                </a:solidFill>
                <a:latin typeface="Aptos"/>
              </a:rPr>
              <a:t>Citações e execução detalhada constam no notebook version02.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preços de veículos com MLP — versão 2</dc:title>
  <dc:subject>Resultados do notebook version02: Random Search, TPE e MLP sem MMR</dc:subject>
  <dc:creator>Andrey, Felipe Gabriel, Felipe Vieira e Gabriel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