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Melhor MAE</c:v>
                </c:pt>
              </c:strCache>
            </c:strRef>
          </c:tx>
          <c:spPr>
            <a:solidFill>
              <a:srgbClr val="2563EB"/>
            </a:solidFill>
            <a:ln>
              <a:solidFill>
                <a:srgbClr val="2563EB"/>
              </a:solidFill>
            </a:ln>
          </c:spPr>
          <c:cat>
            <c:strRef>
              <c:f>Sheet1!$A$2:$A$3</c:f>
              <c:strCache>
                <c:ptCount val="2"/>
                <c:pt idx="0">
                  <c:v>Random Search</c:v>
                </c:pt>
                <c:pt idx="1">
                  <c:v>TPE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1027.26</c:v>
                </c:pt>
                <c:pt idx="1">
                  <c:v>1072.11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0F172A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200.0"/>
        </c:scaling>
        <c:delete val="0"/>
        <c:axPos val="l"/>
        <c:majorGridlines>
          <c:spPr>
            <a:ln>
              <a:solidFill>
                <a:srgbClr val="94A3B8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334155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MAE médio</c:v>
                </c:pt>
              </c:strCache>
            </c:strRef>
          </c:tx>
          <c:spPr>
            <a:solidFill>
              <a:srgbClr val="2563EB"/>
            </a:solidFill>
            <a:ln>
              <a:solidFill>
                <a:srgbClr val="2563EB"/>
              </a:solidFill>
            </a:ln>
          </c:spPr>
          <c:cat>
            <c:strRef>
              <c:f>Sheet1!$A$2:$A$6</c:f>
              <c:strCache>
                <c:ptCount val="5"/>
                <c:pt idx="0">
                  <c:v>0,0001</c:v>
                </c:pt>
                <c:pt idx="1">
                  <c:v>0,0003</c:v>
                </c:pt>
                <c:pt idx="2">
                  <c:v>0,001</c:v>
                </c:pt>
                <c:pt idx="3">
                  <c:v>0,003</c:v>
                </c:pt>
                <c:pt idx="4">
                  <c:v>0,01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1033.38</c:v>
                </c:pt>
                <c:pt idx="1">
                  <c:v>1035.03</c:v>
                </c:pt>
                <c:pt idx="2">
                  <c:v>1140.12</c:v>
                </c:pt>
                <c:pt idx="3">
                  <c:v>1357.22</c:v>
                </c:pt>
                <c:pt idx="4">
                  <c:v>1872.51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0F172A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000.0"/>
        </c:scaling>
        <c:delete val="0"/>
        <c:axPos val="l"/>
        <c:majorGridlines>
          <c:spPr>
            <a:ln>
              <a:solidFill>
                <a:srgbClr val="94A3B8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334155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EA5E9"/>
                </a:solidFill>
                <a:latin typeface="Aptos"/>
              </a:rPr>
              <a:t>INTELIGÊNCIA COMPUTACIONAL · MLP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43000"/>
            <a:ext cx="685800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500" b="1">
                <a:solidFill>
                  <a:srgbClr val="F8FAFC"/>
                </a:solidFill>
                <a:latin typeface="Aptos"/>
              </a:rPr>
              <a:t>Regressão de preços
de veículos com MLP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2971800"/>
            <a:ext cx="64008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94A3B8"/>
                </a:solidFill>
                <a:latin typeface="Aptos"/>
              </a:rPr>
              <a:t>Comparação entre Random Search e TPE, com análise de sensibilidade individual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18120" y="777240"/>
            <a:ext cx="3383280" cy="516636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83879" y="1298448"/>
            <a:ext cx="26517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8FAFC"/>
                </a:solidFill>
                <a:latin typeface="Aptos"/>
              </a:rPr>
              <a:t>558.837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02168" y="1874519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Aptos"/>
              </a:rPr>
              <a:t>registros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79" y="2615184"/>
            <a:ext cx="26517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0EA5E9"/>
                </a:solidFill>
                <a:latin typeface="Aptos"/>
              </a:rPr>
              <a:t>25 + 25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02168" y="320040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Aptos"/>
              </a:rPr>
              <a:t>configurações avaliadas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79" y="3950208"/>
            <a:ext cx="26517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16A34A"/>
                </a:solidFill>
                <a:latin typeface="Aptos"/>
              </a:rPr>
              <a:t>R² 0,971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02168" y="452628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Aptos"/>
              </a:rPr>
              <a:t>no teste reservado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" y="6099048"/>
            <a:ext cx="8412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  <a:latin typeface="Aptos"/>
              </a:rPr>
              <a:t>Andrey · Felipe Gabriel · Felipe Vieira · Gabriel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510528"/>
            <a:ext cx="5669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Aptos"/>
              </a:rPr>
              <a:t>Regressão de preços de veículos com MLP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64240" y="6473952"/>
            <a:ext cx="5029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94A3B8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4114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EA5E9"/>
                </a:solidFill>
                <a:latin typeface="Aptos"/>
              </a:rPr>
              <a:t>TRANSPARÊNCIA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76072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F8FAFC"/>
                </a:solidFill>
                <a:latin typeface="Aptos"/>
              </a:rPr>
              <a:t>Equipe, escopo e uso de IA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389888"/>
            <a:ext cx="5230368" cy="786384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581912"/>
            <a:ext cx="475488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EA5E9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53312" y="1536192"/>
            <a:ext cx="41148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8FAFC"/>
                </a:solidFill>
                <a:latin typeface="Aptos"/>
              </a:rPr>
              <a:t>Andrey de Matos Gonçalves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414016"/>
            <a:ext cx="5230368" cy="786384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2606040"/>
            <a:ext cx="475488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EA5E9"/>
                </a:solidFill>
                <a:latin typeface="Apto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53312" y="2560320"/>
            <a:ext cx="41148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8FAFC"/>
                </a:solidFill>
                <a:latin typeface="Aptos"/>
              </a:rPr>
              <a:t>Felipe Gabriel Souza Libório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438144"/>
            <a:ext cx="5230368" cy="786384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3630168"/>
            <a:ext cx="475488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EA5E9"/>
                </a:solidFill>
                <a:latin typeface="Aptos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53312" y="3584448"/>
            <a:ext cx="41148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8FAFC"/>
                </a:solidFill>
                <a:latin typeface="Aptos"/>
              </a:rPr>
              <a:t>Felipe Vieira Brazão e Silva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462272"/>
            <a:ext cx="5230368" cy="786384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4654296"/>
            <a:ext cx="475488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EA5E9"/>
                </a:solidFill>
                <a:latin typeface="Aptos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53312" y="4608576"/>
            <a:ext cx="41148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8FAFC"/>
                </a:solidFill>
                <a:latin typeface="Aptos"/>
              </a:rPr>
              <a:t>Gabriel Coelho Goes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99048" y="1389888"/>
            <a:ext cx="5486400" cy="3858768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1709928"/>
            <a:ext cx="4800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EA5E9"/>
                </a:solidFill>
                <a:latin typeface="Aptos"/>
              </a:rPr>
              <a:t>DECLARAÇÃO DE IA GENERATIVA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2148840"/>
            <a:ext cx="461772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8FAFC"/>
                </a:solidFill>
                <a:latin typeface="Aptos"/>
              </a:defRPr>
            </a:pPr>
            <a:r>
              <a:t>•  Ferramenta: Codex, da OpenAI</a:t>
            </a:r>
          </a:p>
          <a:p>
            <a:pPr>
              <a:spcAft>
                <a:spcPts val="1000"/>
              </a:spcAft>
              <a:defRPr sz="1600">
                <a:solidFill>
                  <a:srgbClr val="F8FAFC"/>
                </a:solidFill>
                <a:latin typeface="Aptos"/>
              </a:defRPr>
            </a:pPr>
            <a:r>
              <a:t>•  Apoio na estruturação, revisão, documentação e interpretação</a:t>
            </a:r>
          </a:p>
          <a:p>
            <a:pPr>
              <a:spcAft>
                <a:spcPts val="1000"/>
              </a:spcAft>
              <a:defRPr sz="1600">
                <a:solidFill>
                  <a:srgbClr val="F8FAFC"/>
                </a:solidFill>
                <a:latin typeface="Aptos"/>
              </a:defRPr>
            </a:pPr>
            <a:r>
              <a:t>•  Participação aproximada: dois terços do desenvolvimento textual e técnico</a:t>
            </a:r>
          </a:p>
          <a:p>
            <a:pPr>
              <a:spcAft>
                <a:spcPts val="1000"/>
              </a:spcAft>
              <a:defRPr sz="1600">
                <a:solidFill>
                  <a:srgbClr val="F8FAFC"/>
                </a:solidFill>
                <a:latin typeface="Aptos"/>
              </a:defRPr>
            </a:pPr>
            <a:r>
              <a:t>•  Resultados conferidos por execução, validação cruzada e revisão humana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2" y="4773168"/>
            <a:ext cx="4572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Aptos"/>
              </a:rPr>
              <a:t>Responsabilidade final e interpretação: equipe.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510528"/>
            <a:ext cx="5669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Aptos"/>
              </a:rPr>
              <a:t>Regressão de preços de veículos com MLP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73952"/>
            <a:ext cx="5029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94A3B8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4114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EA5E9"/>
                </a:solidFill>
                <a:latin typeface="Aptos"/>
              </a:rPr>
              <a:t>CONTEXTO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76072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F8FAFC"/>
                </a:solidFill>
                <a:latin typeface="Aptos"/>
              </a:rPr>
              <a:t>Problema e conjunto de dados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53312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A5E9"/>
                </a:solidFill>
                <a:latin typeface="Aptos"/>
              </a:rPr>
              <a:t>Objetivo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719072"/>
            <a:ext cx="516636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F8FAFC"/>
                </a:solidFill>
                <a:latin typeface="Aptos"/>
              </a:rPr>
              <a:t>Estimar o preço efetivo de venda de um veículo a partir de características do automóvel, condição e informações de mercado.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3218688"/>
            <a:ext cx="2331720" cy="114300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3218688"/>
            <a:ext cx="73152" cy="11430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3383280"/>
            <a:ext cx="19842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94A3B8"/>
                </a:solidFill>
                <a:latin typeface="Aptos"/>
              </a:rPr>
              <a:t>INSTÂNCIAS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3639312"/>
            <a:ext cx="198424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8FAFC"/>
                </a:solidFill>
                <a:latin typeface="Aptos"/>
              </a:rPr>
              <a:t>558.837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27248" y="3218688"/>
            <a:ext cx="2331720" cy="114300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127248" y="3218688"/>
            <a:ext cx="73152" cy="1143000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28416" y="3383280"/>
            <a:ext cx="19842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94A3B8"/>
                </a:solidFill>
                <a:latin typeface="Aptos"/>
              </a:rPr>
              <a:t>COLUNAS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28416" y="3639312"/>
            <a:ext cx="198424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8FAFC"/>
                </a:solidFill>
                <a:latin typeface="Aptos"/>
              </a:rPr>
              <a:t>16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28416" y="4078224"/>
            <a:ext cx="198424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ptos"/>
              </a:rPr>
              <a:t>15 preditores + alvo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4590288"/>
            <a:ext cx="2331720" cy="114300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" y="4590288"/>
            <a:ext cx="73152" cy="1143000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8" y="4754879"/>
            <a:ext cx="19842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94A3B8"/>
                </a:solidFill>
                <a:latin typeface="Aptos"/>
              </a:rPr>
              <a:t>TIPO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8" y="5010912"/>
            <a:ext cx="198424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8FAFC"/>
                </a:solidFill>
                <a:latin typeface="Aptos"/>
              </a:rPr>
              <a:t>Regressão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127248" y="4590288"/>
            <a:ext cx="2331720" cy="114300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127248" y="4590288"/>
            <a:ext cx="73152" cy="114300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4754879"/>
            <a:ext cx="19842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94A3B8"/>
                </a:solidFill>
                <a:latin typeface="Aptos"/>
              </a:rPr>
              <a:t>ALVO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28416" y="5010912"/>
            <a:ext cx="198424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8FAFC"/>
                </a:solidFill>
                <a:latin typeface="Aptos"/>
              </a:rPr>
              <a:t>sellingprice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28416" y="5449823"/>
            <a:ext cx="198424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ptos"/>
              </a:rPr>
              <a:t>valor em dólares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80760" y="1353312"/>
            <a:ext cx="5504688" cy="4379976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1719072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EA5E9"/>
                </a:solidFill>
                <a:latin typeface="Aptos"/>
              </a:rPr>
              <a:t>VEHICLE SALES AND MARKET TRENDS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19088" y="2221992"/>
            <a:ext cx="457200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700">
                <a:solidFill>
                  <a:srgbClr val="F8FAFC"/>
                </a:solidFill>
                <a:latin typeface="Aptos"/>
              </a:defRPr>
            </a:pPr>
            <a:r>
              <a:t>•  Fonte pública: Kaggle</a:t>
            </a:r>
          </a:p>
          <a:p>
            <a:pPr>
              <a:spcAft>
                <a:spcPts val="1100"/>
              </a:spcAft>
              <a:defRPr sz="1700">
                <a:solidFill>
                  <a:srgbClr val="F8FAFC"/>
                </a:solidFill>
                <a:latin typeface="Aptos"/>
              </a:defRPr>
            </a:pPr>
            <a:r>
              <a:t>•  Veículos vendidos em leilões nos Estados Unidos</a:t>
            </a:r>
          </a:p>
          <a:p>
            <a:pPr>
              <a:spcAft>
                <a:spcPts val="1100"/>
              </a:spcAft>
              <a:defRPr sz="1700">
                <a:solidFill>
                  <a:srgbClr val="F8FAFC"/>
                </a:solidFill>
                <a:latin typeface="Aptos"/>
              </a:defRPr>
            </a:pPr>
            <a:r>
              <a:t>•  Atributos numéricos, categóricos e temporais</a:t>
            </a:r>
          </a:p>
          <a:p>
            <a:pPr>
              <a:spcAft>
                <a:spcPts val="1100"/>
              </a:spcAft>
              <a:defRPr sz="1700">
                <a:solidFill>
                  <a:srgbClr val="F8FAFC"/>
                </a:solidFill>
                <a:latin typeface="Aptos"/>
              </a:defRPr>
            </a:pPr>
            <a:r>
              <a:t>•  Questão central: quão próximo o modelo chega do preço real?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28232" y="5038344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Aptos"/>
              </a:rPr>
              <a:t>kaggle.com/datasets/syedanwarafridi/vehicle-sales-data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6510528"/>
            <a:ext cx="5669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Aptos"/>
              </a:rPr>
              <a:t>Regressão de preços de veículos com MLP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64240" y="6473952"/>
            <a:ext cx="5029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94A3B8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4114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EA5E9"/>
                </a:solidFill>
                <a:latin typeface="Aptos"/>
              </a:rPr>
              <a:t>METODOLOGIA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76072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F8FAFC"/>
                </a:solidFill>
                <a:latin typeface="Aptos"/>
              </a:rPr>
              <a:t>Pipeline experimental sem vazamento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508760"/>
            <a:ext cx="1993392" cy="2889504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" y="1792224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A5E9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2295144"/>
            <a:ext cx="157276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Aptos"/>
              </a:rPr>
              <a:t>Holdout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971800"/>
            <a:ext cx="151790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Aptos"/>
              </a:rPr>
              <a:t>20% reservado antes de qualquer ajuste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51176" y="2633472"/>
            <a:ext cx="29260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1">
                <a:solidFill>
                  <a:srgbClr val="2563EB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34640" y="1508760"/>
            <a:ext cx="1993392" cy="2889504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54096" y="1792224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A5E9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54096" y="2295144"/>
            <a:ext cx="157276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Aptos"/>
              </a:rPr>
              <a:t>Preparação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54096" y="2971800"/>
            <a:ext cx="151790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Aptos"/>
              </a:rPr>
              <a:t>imputação, one-hot e padronização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18888" y="2633472"/>
            <a:ext cx="29260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1">
                <a:solidFill>
                  <a:srgbClr val="2563EB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02352" y="1508760"/>
            <a:ext cx="1993392" cy="2889504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21808" y="1792224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A5E9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1808" y="2295144"/>
            <a:ext cx="157276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Aptos"/>
              </a:rPr>
              <a:t>Validação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21808" y="2971800"/>
            <a:ext cx="151790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Aptos"/>
              </a:rPr>
              <a:t>3 folds somente no treino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86600" y="2633472"/>
            <a:ext cx="29260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1">
                <a:solidFill>
                  <a:srgbClr val="2563EB"/>
                </a:solidFill>
                <a:latin typeface="Aptos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70063" y="1508760"/>
            <a:ext cx="1993392" cy="2889504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89519" y="1792224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A5E9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19" y="2295144"/>
            <a:ext cx="157276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Aptos"/>
              </a:rPr>
              <a:t>Seleção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19" y="2971800"/>
            <a:ext cx="151790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Aptos"/>
              </a:rPr>
              <a:t>menor MAE médio em dólares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54311" y="2633472"/>
            <a:ext cx="29260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1">
                <a:solidFill>
                  <a:srgbClr val="2563EB"/>
                </a:solidFill>
                <a:latin typeface="Aptos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37776" y="1508760"/>
            <a:ext cx="1993392" cy="2889504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57232" y="1792224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A5E9"/>
                </a:solidFill>
                <a:latin typeface="Aptos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57232" y="2295144"/>
            <a:ext cx="157276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Aptos"/>
              </a:rPr>
              <a:t>Teste final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57232" y="2971800"/>
            <a:ext cx="151790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Aptos"/>
              </a:rPr>
              <a:t>uma única avaliação no holdout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" y="4782312"/>
            <a:ext cx="11018520" cy="114300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2104" y="508406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EA5E9"/>
                </a:solidFill>
                <a:latin typeface="Aptos"/>
              </a:rPr>
              <a:t>Decisões-chave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50592" y="5029200"/>
            <a:ext cx="873252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8FAFC"/>
                </a:solidFill>
                <a:latin typeface="Aptos"/>
              </a:rPr>
              <a:t>VIN removido · data convertida em atributos temporais · alvo treinado em log1p · semente fixa · MMR investigado separadamente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6510528"/>
            <a:ext cx="5669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Aptos"/>
              </a:rPr>
              <a:t>Regressão de preços de veículos com MLP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64240" y="6473952"/>
            <a:ext cx="5029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94A3B8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4114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EA5E9"/>
                </a:solidFill>
                <a:latin typeface="Aptos"/>
              </a:rPr>
              <a:t>MODELO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76072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F8FAFC"/>
                </a:solidFill>
                <a:latin typeface="Aptos"/>
              </a:rPr>
              <a:t>MLP e espaço de busca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389888"/>
            <a:ext cx="4846320" cy="4498848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1709928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EA5E9"/>
                </a:solidFill>
                <a:latin typeface="Aptos"/>
              </a:rPr>
              <a:t>ARQUITETURA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7824" y="2167128"/>
            <a:ext cx="4160520" cy="566928"/>
          </a:xfrm>
          <a:prstGeom prst="round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77824" y="2167128"/>
            <a:ext cx="73152" cy="56692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2304288"/>
            <a:ext cx="105156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8FAFC"/>
                </a:solidFill>
                <a:latin typeface="Aptos"/>
              </a:rPr>
              <a:t>Entrada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12848" y="2304288"/>
            <a:ext cx="252374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Aptos"/>
              </a:rPr>
              <a:t>atributos processados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7824" y="2935224"/>
            <a:ext cx="4160520" cy="566928"/>
          </a:xfrm>
          <a:prstGeom prst="round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7824" y="2935224"/>
            <a:ext cx="73152" cy="566928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5568" y="3072384"/>
            <a:ext cx="105156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8FAFC"/>
                </a:solidFill>
                <a:latin typeface="Aptos"/>
              </a:rPr>
              <a:t>Ocultas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12848" y="3072384"/>
            <a:ext cx="252374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Aptos"/>
              </a:rPr>
              <a:t>1 a 3 camadas densas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7824" y="3703320"/>
            <a:ext cx="4160520" cy="566928"/>
          </a:xfrm>
          <a:prstGeom prst="round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77824" y="3703320"/>
            <a:ext cx="73152" cy="566928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15568" y="3840480"/>
            <a:ext cx="105156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8FAFC"/>
                </a:solidFill>
                <a:latin typeface="Aptos"/>
              </a:rPr>
              <a:t>Ativação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12848" y="3840480"/>
            <a:ext cx="252374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Aptos"/>
              </a:rPr>
              <a:t>ReLU ou tanh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7824" y="4471416"/>
            <a:ext cx="4160520" cy="566928"/>
          </a:xfrm>
          <a:prstGeom prst="round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77824" y="4471416"/>
            <a:ext cx="73152" cy="56692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15568" y="4608576"/>
            <a:ext cx="105156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8FAFC"/>
                </a:solidFill>
                <a:latin typeface="Aptos"/>
              </a:rPr>
              <a:t>Saída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12848" y="4608576"/>
            <a:ext cx="252374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Aptos"/>
              </a:rPr>
              <a:t>Dense(1), linear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" y="5330952"/>
            <a:ext cx="4160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8FAFC"/>
                </a:solidFill>
                <a:latin typeface="Aptos"/>
              </a:rPr>
              <a:t>Loss: MSE · seleção: MAE · Early Stopping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0" y="1389888"/>
            <a:ext cx="5916168" cy="4498848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98464" y="1709928"/>
            <a:ext cx="4937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EA5E9"/>
                </a:solidFill>
                <a:latin typeface="Aptos"/>
              </a:rPr>
              <a:t>HIPERPARÂMETROS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98464" y="2176272"/>
            <a:ext cx="49834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  <a:latin typeface="Aptos"/>
              </a:defRPr>
            </a:pPr>
            <a:r>
              <a:t>•  Neurônios: 32, 64, 128 ou 256</a:t>
            </a:r>
          </a:p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  <a:latin typeface="Aptos"/>
              </a:defRPr>
            </a:pPr>
            <a:r>
              <a:t>•  Learning rate: 10⁻⁴ a 10⁻²</a:t>
            </a:r>
          </a:p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  <a:latin typeface="Aptos"/>
              </a:defRPr>
            </a:pPr>
            <a:r>
              <a:t>•  Batch size: 32, 64 ou 128</a:t>
            </a:r>
          </a:p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  <a:latin typeface="Aptos"/>
              </a:defRPr>
            </a:pPr>
            <a:r>
              <a:t>•  Otimizador: Adam ou RMSprop</a:t>
            </a:r>
          </a:p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  <a:latin typeface="Aptos"/>
              </a:defRPr>
            </a:pPr>
            <a:r>
              <a:t>•  Paciência: 8, 12, 16 ou 20</a:t>
            </a:r>
          </a:p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  <a:latin typeface="Aptos"/>
              </a:defRPr>
            </a:pPr>
            <a:r>
              <a:t>•  Orçamento idêntico: 25 × 3 folds por estratégia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6510528"/>
            <a:ext cx="5669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Aptos"/>
              </a:rPr>
              <a:t>Regressão de preços de veículos com MLP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64240" y="6473952"/>
            <a:ext cx="5029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94A3B8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4114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EA5E9"/>
                </a:solidFill>
                <a:latin typeface="Aptos"/>
              </a:rPr>
              <a:t>COMPARAÇÃO DAS BUSCAS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76072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F8FAFC"/>
                </a:solidFill>
                <a:latin typeface="Aptos"/>
              </a:rPr>
              <a:t>Random Search venceu; TPE foi mais consistente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6072" y="1389888"/>
            <a:ext cx="5623560" cy="3703320"/>
          </a:xfrm>
          <a:prstGeom prst="round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76072" y="1389888"/>
          <a:ext cx="5623560" cy="3703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04672" y="5294376"/>
            <a:ext cx="2331720" cy="114300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" y="5294376"/>
            <a:ext cx="73152" cy="1143000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5458968"/>
            <a:ext cx="19842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94A3B8"/>
                </a:solidFill>
                <a:latin typeface="Aptos"/>
              </a:rPr>
              <a:t>VANTAGEM RANDOM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5715000"/>
            <a:ext cx="198424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8FAFC"/>
                </a:solidFill>
                <a:latin typeface="Aptos"/>
              </a:rPr>
              <a:t>4,2%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6153912"/>
            <a:ext cx="198424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ptos"/>
              </a:rPr>
              <a:t>menor MAE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64992" y="5294376"/>
            <a:ext cx="2331720" cy="114300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64992" y="5294376"/>
            <a:ext cx="73152" cy="11430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6160" y="5458968"/>
            <a:ext cx="19842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94A3B8"/>
                </a:solidFill>
                <a:latin typeface="Aptos"/>
              </a:rPr>
              <a:t>ORÇAMENTO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5715000"/>
            <a:ext cx="198424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8FAFC"/>
                </a:solidFill>
                <a:latin typeface="Aptos"/>
              </a:rPr>
              <a:t>25 + 25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6153912"/>
            <a:ext cx="198424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ptos"/>
              </a:rPr>
              <a:t>3 folds cada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73952" y="1389888"/>
            <a:ext cx="5111496" cy="3904487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93992" y="1709928"/>
            <a:ext cx="4389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EA5E9"/>
                </a:solidFill>
                <a:latin typeface="Aptos"/>
              </a:rPr>
              <a:t>MELHORES CONFIGURAÇÕES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93992" y="2176272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Aptos"/>
              </a:rPr>
              <a:t>Random Search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93992" y="2551176"/>
            <a:ext cx="41148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Aptos"/>
              </a:rPr>
              <a:t>256 → 128 · tanh · RMSprop
LR 0,0001804 · lote 128 · paciência 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93992" y="3547872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Aptos"/>
              </a:rPr>
              <a:t>TPE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93992" y="3922776"/>
            <a:ext cx="41148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Aptos"/>
              </a:rPr>
              <a:t>128 · ReLU · RMSprop
LR 0,0001195 · lote 128 · paciência 8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73952" y="5504688"/>
            <a:ext cx="5111496" cy="475488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29984" y="5623560"/>
            <a:ext cx="45720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8FAFC"/>
                </a:solidFill>
                <a:latin typeface="Aptos"/>
              </a:rPr>
              <a:t>TPE concentrou mais tentativas em regiões boas.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510528"/>
            <a:ext cx="5669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Aptos"/>
              </a:rPr>
              <a:t>Regressão de preços de veículos com MLP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64240" y="6473952"/>
            <a:ext cx="5029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94A3B8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4114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EA5E9"/>
                </a:solidFill>
                <a:latin typeface="Aptos"/>
              </a:rPr>
              <a:t>ANÁLISE INDIVIDUAL DE SENSIBILIDADE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76072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F8FAFC"/>
                </a:solidFill>
                <a:latin typeface="Aptos"/>
              </a:rPr>
              <a:t>Andrey de Matos Gonçalves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152144"/>
            <a:ext cx="50292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EA5E9"/>
                </a:solidFill>
                <a:latin typeface="Aptos"/>
              </a:rPr>
              <a:t>Taxa de aprendizado (learning rate)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6072" y="1600200"/>
            <a:ext cx="7178040" cy="4480560"/>
          </a:xfrm>
          <a:prstGeom prst="round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76072" y="1600200"/>
          <a:ext cx="717804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973568" y="1600200"/>
            <a:ext cx="3611880" cy="196596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47888" y="1883664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94A3B8"/>
                </a:solidFill>
                <a:latin typeface="Aptos"/>
              </a:rPr>
              <a:t>MELHOR PONTO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47888" y="2221992"/>
            <a:ext cx="29260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F8FAFC"/>
                </a:solidFill>
                <a:latin typeface="Aptos"/>
              </a:rPr>
              <a:t>1 × 10⁻⁴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47888" y="2788920"/>
            <a:ext cx="292608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6A34A"/>
                </a:solidFill>
                <a:latin typeface="Aptos"/>
              </a:rPr>
              <a:t>MAE: US$ 1.033,38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73568" y="3758184"/>
            <a:ext cx="3611880" cy="2322576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47888" y="4041648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94A3B8"/>
                </a:solidFill>
                <a:latin typeface="Aptos"/>
              </a:rPr>
              <a:t>LEITURA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7888" y="4407408"/>
            <a:ext cx="2880360" cy="12435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8FAFC"/>
                </a:solidFill>
                <a:latin typeface="Aptos"/>
              </a:rPr>
              <a:t>Maior impacto observado: amplitude de US$ 839. Taxas altas tornaram as atualizações instáveis.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6510528"/>
            <a:ext cx="5669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Aptos"/>
              </a:rPr>
              <a:t>Regressão de preços de veículos com MLP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73952"/>
            <a:ext cx="5029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94A3B8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4114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EA5E9"/>
                </a:solidFill>
                <a:latin typeface="Aptos"/>
              </a:rPr>
              <a:t>ANÁLISE INDIVIDUAL DE SENSIBILIDADE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76072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F8FAFC"/>
                </a:solidFill>
                <a:latin typeface="Aptos"/>
              </a:rPr>
              <a:t>Felipe Gabriel Souza Libório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152144"/>
            <a:ext cx="4480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EA5E9"/>
                </a:solidFill>
                <a:latin typeface="Aptos"/>
              </a:rPr>
              <a:t>Tamanho do lote (batch size)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572768"/>
            <a:ext cx="7178040" cy="4526280"/>
          </a:xfrm>
          <a:prstGeom prst="round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ensibilidade_felipe_gabri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" y="2686812"/>
            <a:ext cx="6867144" cy="2289047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973568" y="1572768"/>
            <a:ext cx="3611880" cy="196596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47888" y="1856231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94A3B8"/>
                </a:solidFill>
                <a:latin typeface="Aptos"/>
              </a:rPr>
              <a:t>MELHOR PONTO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47888" y="2194560"/>
            <a:ext cx="29260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F8FAFC"/>
                </a:solidFill>
                <a:latin typeface="Aptos"/>
              </a:rPr>
              <a:t>128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47888" y="2761488"/>
            <a:ext cx="292608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6A34A"/>
                </a:solidFill>
                <a:latin typeface="Aptos"/>
              </a:rPr>
              <a:t>MAE: US$ 1.027,26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73568" y="3730752"/>
            <a:ext cx="3611880" cy="2368296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47888" y="4005072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94A3B8"/>
                </a:solidFill>
                <a:latin typeface="Aptos"/>
              </a:rPr>
              <a:t>LEITURA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7888" y="4370832"/>
            <a:ext cx="288036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8FAFC"/>
                </a:solidFill>
                <a:latin typeface="Aptos"/>
              </a:rPr>
              <a:t>O efeito não foi monotônico. O lote 128 combinou menor erro e menor dispersão entre folds.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6510528"/>
            <a:ext cx="5669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Aptos"/>
              </a:rPr>
              <a:t>Regressão de preços de veículos com MLP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73952"/>
            <a:ext cx="5029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94A3B8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4114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EA5E9"/>
                </a:solidFill>
                <a:latin typeface="Aptos"/>
              </a:rPr>
              <a:t>ANÁLISE INDIVIDUAL DE SENSIBILIDADE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76072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F8FAFC"/>
                </a:solidFill>
                <a:latin typeface="Aptos"/>
              </a:rPr>
              <a:t>Felipe Vieira Brazão e Silva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152144"/>
            <a:ext cx="4480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EA5E9"/>
                </a:solidFill>
                <a:latin typeface="Aptos"/>
              </a:rPr>
              <a:t>Neurônios na primeira camada oculta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572768"/>
            <a:ext cx="7178040" cy="4526280"/>
          </a:xfrm>
          <a:prstGeom prst="round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ensibilidade_felipe_viei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" y="2685006"/>
            <a:ext cx="6867144" cy="229265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973568" y="1572768"/>
            <a:ext cx="3611880" cy="196596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47888" y="1856231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94A3B8"/>
                </a:solidFill>
                <a:latin typeface="Aptos"/>
              </a:rPr>
              <a:t>MELHOR PONTO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47888" y="2194560"/>
            <a:ext cx="29260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F8FAFC"/>
                </a:solidFill>
                <a:latin typeface="Aptos"/>
              </a:rPr>
              <a:t>256 neurônios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47888" y="2761488"/>
            <a:ext cx="292608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6A34A"/>
                </a:solidFill>
                <a:latin typeface="Aptos"/>
              </a:rPr>
              <a:t>MAE: US$ 1.027,26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73568" y="3730752"/>
            <a:ext cx="3611880" cy="2368296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47888" y="4005072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94A3B8"/>
                </a:solidFill>
                <a:latin typeface="Aptos"/>
              </a:rPr>
              <a:t>LEITURA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7888" y="4370832"/>
            <a:ext cx="288036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8FAFC"/>
                </a:solidFill>
                <a:latin typeface="Aptos"/>
              </a:rPr>
              <a:t>256 foi a escolha parcimoniosa. Dobrar para 512 não trouxe ganho relevante de desempenho.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6510528"/>
            <a:ext cx="5669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Aptos"/>
              </a:rPr>
              <a:t>Regressão de preços de veículos com MLP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73952"/>
            <a:ext cx="5029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94A3B8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4114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EA5E9"/>
                </a:solidFill>
                <a:latin typeface="Aptos"/>
              </a:rPr>
              <a:t>ANÁLISE INDIVIDUAL DE SENSIBILIDADE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76072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F8FAFC"/>
                </a:solidFill>
                <a:latin typeface="Aptos"/>
              </a:rPr>
              <a:t>Gabriel Coelho Goes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152144"/>
            <a:ext cx="4480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EA5E9"/>
                </a:solidFill>
                <a:latin typeface="Aptos"/>
              </a:rPr>
              <a:t>Paciência do Early Stopping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572768"/>
            <a:ext cx="7178040" cy="4526280"/>
          </a:xfrm>
          <a:prstGeom prst="round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ensibilidade_gabri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" y="2685006"/>
            <a:ext cx="6867144" cy="229265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973568" y="1572768"/>
            <a:ext cx="3611880" cy="196596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47888" y="1856231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94A3B8"/>
                </a:solidFill>
                <a:latin typeface="Aptos"/>
              </a:rPr>
              <a:t>MELHOR PONTO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47888" y="2194560"/>
            <a:ext cx="29260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F8FAFC"/>
                </a:solidFill>
                <a:latin typeface="Aptos"/>
              </a:rPr>
              <a:t>4 épocas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47888" y="2761488"/>
            <a:ext cx="292608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6A34A"/>
                </a:solidFill>
                <a:latin typeface="Aptos"/>
              </a:rPr>
              <a:t>Mesmo MAE · menor espera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73568" y="3730752"/>
            <a:ext cx="3611880" cy="2368296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47888" y="4005072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94A3B8"/>
                </a:solidFill>
                <a:latin typeface="Aptos"/>
              </a:rPr>
              <a:t>LEITURA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7888" y="4370832"/>
            <a:ext cx="288036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8FAFC"/>
                </a:solidFill>
                <a:latin typeface="Aptos"/>
              </a:rPr>
              <a:t>O limite de 80 épocas ocorreu antes da parada antecipada; por isso, o MAE permaneceu igual.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6510528"/>
            <a:ext cx="5669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Aptos"/>
              </a:rPr>
              <a:t>Regressão de preços de veículos com MLP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73952"/>
            <a:ext cx="5029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94A3B8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4114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EA5E9"/>
                </a:solidFill>
                <a:latin typeface="Aptos"/>
              </a:rPr>
              <a:t>ABLAÇÃO E BASELINE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76072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F8FAFC"/>
                </a:solidFill>
                <a:latin typeface="Aptos"/>
              </a:rPr>
              <a:t>A variável MMR concentra grande poder preditivo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389888"/>
            <a:ext cx="7086600" cy="4498848"/>
          </a:xfrm>
          <a:prstGeom prst="round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blacao_mm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511551"/>
            <a:ext cx="6766560" cy="2255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909560" y="1389888"/>
            <a:ext cx="3675887" cy="4498848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0456" y="1709928"/>
            <a:ext cx="292608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EA5E9"/>
                </a:solidFill>
                <a:latin typeface="Aptos"/>
              </a:rPr>
              <a:t>RESULTADO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0456" y="2148840"/>
            <a:ext cx="2834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100" b="1">
                <a:solidFill>
                  <a:srgbClr val="DC2626"/>
                </a:solidFill>
                <a:latin typeface="Aptos"/>
              </a:rPr>
              <a:t>+83,1%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0456" y="2697480"/>
            <a:ext cx="2880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Aptos"/>
              </a:rPr>
              <a:t>no MAE ao retirar MMR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0456" y="3264408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  <a:latin typeface="Aptos"/>
              </a:defRPr>
            </a:pPr>
            <a:r>
              <a:t>•  Baseline MMR: US$ 1.085,97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  <a:latin typeface="Aptos"/>
              </a:defRPr>
            </a:pPr>
            <a:r>
              <a:t>•  MLP com MMR: US$ 1.027,26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  <a:latin typeface="Aptos"/>
              </a:defRPr>
            </a:pPr>
            <a:r>
              <a:t>•  MLP sem MMR: US$ 1.880,53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0456" y="4956048"/>
            <a:ext cx="28346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  <a:latin typeface="Aptos"/>
              </a:rPr>
              <a:t>Uso legítimo somente se o MMR estiver disponível antes da venda.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510528"/>
            <a:ext cx="5669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Aptos"/>
              </a:rPr>
              <a:t>Regressão de preços de veículos com MLP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73952"/>
            <a:ext cx="5029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94A3B8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4114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EA5E9"/>
                </a:solidFill>
                <a:latin typeface="Aptos"/>
              </a:rPr>
              <a:t>AVALIAÇÃO FINAL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76072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F8FAFC"/>
                </a:solidFill>
                <a:latin typeface="Aptos"/>
              </a:rPr>
              <a:t>Desempenho no teste reservado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6072" y="1389888"/>
            <a:ext cx="3337560" cy="114300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6072" y="1389888"/>
            <a:ext cx="73152" cy="11430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54480"/>
            <a:ext cx="299008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94A3B8"/>
                </a:solidFill>
                <a:latin typeface="Aptos"/>
              </a:rPr>
              <a:t>MAE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810512"/>
            <a:ext cx="299008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8FAFC"/>
                </a:solidFill>
                <a:latin typeface="Aptos"/>
              </a:rPr>
              <a:t>US$ 1.065,15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49424"/>
            <a:ext cx="299008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ptos"/>
              </a:rPr>
              <a:t>erro absoluto médio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72" y="2770632"/>
            <a:ext cx="3337560" cy="114300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6072" y="2770632"/>
            <a:ext cx="73152" cy="1143000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935224"/>
            <a:ext cx="299008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94A3B8"/>
                </a:solidFill>
                <a:latin typeface="Aptos"/>
              </a:rPr>
              <a:t>RMSE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191256"/>
            <a:ext cx="299008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8FAFC"/>
                </a:solidFill>
                <a:latin typeface="Aptos"/>
              </a:rPr>
              <a:t>US$ 1.652,57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630168"/>
            <a:ext cx="299008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ptos"/>
              </a:rPr>
              <a:t>penaliza erros grandes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6072" y="4151376"/>
            <a:ext cx="3337560" cy="114300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76072" y="4151376"/>
            <a:ext cx="73152" cy="1143000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315968"/>
            <a:ext cx="299008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94A3B8"/>
                </a:solidFill>
                <a:latin typeface="Aptos"/>
              </a:rPr>
              <a:t>R²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572000"/>
            <a:ext cx="299008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8FAFC"/>
                </a:solidFill>
                <a:latin typeface="Aptos"/>
              </a:rPr>
              <a:t>0,9710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010912"/>
            <a:ext cx="299008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ptos"/>
              </a:rPr>
              <a:t>97,1% da variância explicada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24528" y="1389888"/>
            <a:ext cx="7360920" cy="4498848"/>
          </a:xfrm>
          <a:prstGeom prst="round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curvas_modelo_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7408" y="2475902"/>
            <a:ext cx="6995160" cy="232681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389120" y="5971032"/>
            <a:ext cx="7059168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94A3B8"/>
                </a:solidFill>
                <a:latin typeface="Aptos"/>
              </a:rPr>
              <a:t>75 épocas · melhor validação na época 63 · leve overfitting tardio controlado pelo Early Stopping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510528"/>
            <a:ext cx="5669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Aptos"/>
              </a:rPr>
              <a:t>Regressão de preços de veículos com MLP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473952"/>
            <a:ext cx="5029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94A3B8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4114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EA5E9"/>
                </a:solidFill>
                <a:latin typeface="Aptos"/>
              </a:rPr>
              <a:t>SÍNTESE CRÍTICA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76072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F8FAFC"/>
                </a:solidFill>
                <a:latin typeface="Aptos"/>
              </a:rPr>
              <a:t>O que os experimentos responderam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371600"/>
            <a:ext cx="11018520" cy="868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371600"/>
            <a:ext cx="100584" cy="86868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63624"/>
            <a:ext cx="13258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563EB"/>
                </a:solidFill>
                <a:latin typeface="Aptos"/>
              </a:rPr>
              <a:t>BUSCA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67712" y="1536192"/>
            <a:ext cx="8851392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Aptos"/>
              </a:rPr>
              <a:t>Random Search encontrou o melhor ponto; TPE apresentou maior consistência.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496312"/>
            <a:ext cx="11018520" cy="868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2496312"/>
            <a:ext cx="100584" cy="868680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688336"/>
            <a:ext cx="13258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EA5E9"/>
                </a:solidFill>
                <a:latin typeface="Aptos"/>
              </a:rPr>
              <a:t>IMPACTO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67712" y="2660904"/>
            <a:ext cx="8851392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Aptos"/>
              </a:rPr>
              <a:t>Learning rate foi o hiperparâmetro dominante e confirmou a importância do TPE.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621024"/>
            <a:ext cx="11018520" cy="868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3621024"/>
            <a:ext cx="100584" cy="868680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3813048"/>
            <a:ext cx="13258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D9488"/>
                </a:solidFill>
                <a:latin typeface="Aptos"/>
              </a:rPr>
              <a:t>GENERALIZAÇÃO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67712" y="3785615"/>
            <a:ext cx="8851392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Aptos"/>
              </a:rPr>
              <a:t>Não houve underfitting forte; houve apenas overfitting tardio e controlado.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745736"/>
            <a:ext cx="11018520" cy="868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4745736"/>
            <a:ext cx="100584" cy="86868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937759"/>
            <a:ext cx="13258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Aptos"/>
              </a:rPr>
              <a:t>MERCADO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67712" y="4910327"/>
            <a:ext cx="8851392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Aptos"/>
              </a:rPr>
              <a:t>MMR é uma referência forte, mas a MLP ainda reduziu seu MAE em 5,4%.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600760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94A3B8"/>
                </a:solidFill>
                <a:latin typeface="Aptos"/>
              </a:rPr>
              <a:t>Limitações: uma única base, orçamento de 25 tentativas e dependência da disponibilidade pré-venda do MMR.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510528"/>
            <a:ext cx="5669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Aptos"/>
              </a:rPr>
              <a:t>Regressão de preços de veículos com MLP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64240" y="6473952"/>
            <a:ext cx="5029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94A3B8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73152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EA5E9"/>
                </a:solidFill>
                <a:latin typeface="Aptos"/>
              </a:rPr>
              <a:t>CONCLUSÃO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1065276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8FAFC"/>
                </a:solidFill>
                <a:latin typeface="Aptos"/>
              </a:rPr>
              <a:t>A MLP estimou preços com alta precisão, mas a análise crítica mostrou que o resultado depende tanto da otimização quanto da qualidade e disponibilidade dos atributos.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3886200"/>
            <a:ext cx="10808208" cy="105156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4215384"/>
            <a:ext cx="1025956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16A34A"/>
                </a:solidFill>
                <a:latin typeface="Aptos"/>
              </a:rPr>
              <a:t>Melhor modelo: Random Search · MAE final US$ 1.065,15 · R² 0,9710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5715000"/>
            <a:ext cx="3657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Aptos"/>
              </a:rPr>
              <a:t>Perguntas?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510528"/>
            <a:ext cx="5669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Aptos"/>
              </a:rPr>
              <a:t>Regressão de preços de veículos com MLP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73952"/>
            <a:ext cx="5029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94A3B8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Regressão de preços de veículos com MLP</dc:title>
  <dc:subject>Random Search, TPE e análises individuais de sensibilidade</dc:subject>
  <dc:creator>Andrey, Felipe Gabriel, Felipe Vieira e Gabriel</dc:creator>
  <cp:keywords>MLP, regressão, Random Search, TPE, veículos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